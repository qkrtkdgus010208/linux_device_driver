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id5WoCl4Lfmv4JwFV/M+dxLPNG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330C53-4501-47B6-A45A-62F26BFDEAF5}">
  <a:tblStyle styleId="{4B330C53-4501-47B6-A45A-62F26BFDEAF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커널은 이미 있는 GPIO·PWM 드라이버만 쓴다. 엣지 이벤트 기록과 실제 출력만 커널이 하고, 방향 판단·단계 계산·출력 값 결정은 전부 fan_controller가 한다. 버튼은 루프마다 값을 읽어 30ms 유지되면 전원 ON/OFF.</a:t>
            </a:r>
            <a:endParaRPr/>
          </a:p>
        </p:txBody>
      </p:sp>
      <p:sp>
        <p:nvSpPr>
          <p:cNvPr id="173" name="Google Shape;17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8" name="Google Shape;21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 다른 프로그램이 쓰는 채널이면 사용하지 않고, 종료할 때는 듀티 0 → enable 0 순서로 모터를 먼저 멈춘다.</a:t>
            </a:r>
            <a:endParaRPr/>
          </a:p>
        </p:txBody>
      </p:sp>
      <p:sp>
        <p:nvSpPr>
          <p:cNvPr id="274" name="Google Shape;27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커널이 A·B 핀 변화를 시각과 함께 기록하고, 프로그램이 시간순으로 읽어 상태 표에 넣는다.</a:t>
            </a:r>
            <a:endParaRPr/>
          </a:p>
        </p:txBody>
      </p:sp>
      <p:sp>
        <p:nvSpPr>
          <p:cNvPr id="322" name="Google Shape;32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0" name="Google Shape;38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7" name="Google Shape;39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핀 변화는 바로 ec11 드라이버의 인터럽트 핸들러로 들어가고, 프로그램은 결과(12바이트 이벤트)만 받는다. 출력은 ioctl로 l298n·led_bar 드라이버에 요청하면 드라이버가 PWM·GPIO를 설정한다.</a:t>
            </a:r>
            <a:endParaRPr/>
          </a:p>
        </p:txBody>
      </p:sp>
      <p:sp>
        <p:nvSpPr>
          <p:cNvPr id="416" name="Google Shape;41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0" name="Google Shape;46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중간에 실패하면 이미 받은 자원을 역순으로 반납한다. rmmod 때도 같은 역순.</a:t>
            </a:r>
            <a:endParaRPr/>
          </a:p>
        </p:txBody>
      </p:sp>
      <p:sp>
        <p:nvSpPr>
          <p:cNvPr id="461" name="Google Shape;46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4" name="Google Shape;494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프로그램이 장치 파일에 read나 write를 호출하면, 커널은 그 장치에 등록된 file_operations 표를 보고 드라이버 함수를 대신 불러준다.</a:t>
            </a:r>
            <a:endParaRPr/>
          </a:p>
        </p:txBody>
      </p:sp>
      <p:sp>
        <p:nvSpPr>
          <p:cNvPr id="495" name="Google Shape;495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이벤트가 없으면 wait_event_interruptible로 잠들었다가, 인터럽트 핸들러가 이벤트를 넣고 깨우면 이어서 진행한다. O_NONBLOCK으로 열었다면 기다리지 않고 -EAGAIN. 프로그램이 넘긴 주소는 잘못됐을 수 있어 커널이 직접 쓰면 안 되고, copy_to_user가 주소를 검사한 뒤 복사한다.</a:t>
            </a:r>
            <a:endParaRPr/>
          </a:p>
        </p:txBody>
      </p:sp>
      <p:sp>
        <p:nvSpPr>
          <p:cNvPr id="529" name="Google Shape;529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셸에서 echo 50 &gt; /dev/l298n_motor 를 실행하면 motor_write가 호출된다. "forward", "backward", "stop", "brake", "step N", 숫자(0~100%)를 알아듣는다. 버퍼는 64바이트로 제한하고 끝에 '\0'을 붙여 문자열로 만든다.</a:t>
            </a:r>
            <a:endParaRPr/>
          </a:p>
        </p:txBody>
      </p:sp>
      <p:sp>
        <p:nvSpPr>
          <p:cNvPr id="563" name="Google Shape;563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8" name="Google Shape;59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공간 구현과 같은 16칸 상태 표를 커널 안에서 쓴다. 버튼(KEY)도 같은 방식으로 인터럽트를 등록한다.</a:t>
            </a:r>
            <a:endParaRPr/>
          </a:p>
        </p:txBody>
      </p:sp>
      <p:sp>
        <p:nvSpPr>
          <p:cNvPr id="599" name="Google Shape;59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5" name="Google Shape;645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드라이버를 올릴 때 Pin 32의 PWM 채널을 받아 두고, 정지 상태면 출력을 끈다. 주기 1,000,000 ns.</a:t>
            </a:r>
            <a:endParaRPr/>
          </a:p>
        </p:txBody>
      </p:sp>
      <p:sp>
        <p:nvSpPr>
          <p:cNvPr id="646" name="Google Shape;646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5" name="Google Shape;705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명령 번호는 include/common_ioctl.h 한 곳에 정의하고 드라이버와 프로그램이 같이 include한다. 모르는 번호가 오면 오류를 돌려준다.</a:t>
            </a:r>
            <a:endParaRPr/>
          </a:p>
        </p:txBody>
      </p:sp>
      <p:sp>
        <p:nvSpPr>
          <p:cNvPr id="706" name="Google Shape;706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2" name="Google Shape;742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노브 클릭은 방향 전환(350ms 대기). Ctrl+C면 모터 정지 · LED 끄고 장치 파일을 닫는다.</a:t>
            </a:r>
            <a:endParaRPr/>
          </a:p>
        </p:txBody>
      </p:sp>
      <p:sp>
        <p:nvSpPr>
          <p:cNvPr id="743" name="Google Shape;743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4" name="Google Shape;774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5" name="Google Shape;775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3" name="Google Shape;79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4" name="Google Shape;79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4" name="Google Shape;804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5" name="Google Shape;80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5" name="Google Shape;815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6" name="Google Shape;816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4" name="Google Shape;834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5" name="Google Shape;835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bg>
      <p:bgPr>
        <a:solidFill>
          <a:srgbClr val="141413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AF9F5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9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29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70706C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spcBef>
                <a:spcPts val="20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DARK">
  <p:cSld name="CONTENT_DARK">
    <p:bg>
      <p:bgPr>
        <a:solidFill>
          <a:srgbClr val="14141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1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B8B5AB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B8B5A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31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31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B8B5AB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B8B5A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1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B8B5AB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B8B5A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1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spcBef>
                <a:spcPts val="200"/>
              </a:spcBef>
              <a:spcAft>
                <a:spcPts val="0"/>
              </a:spcAft>
              <a:buClr>
                <a:srgbClr val="B8B5AB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B8B5A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/>
          <p:nvPr/>
        </p:nvSpPr>
        <p:spPr>
          <a:xfrm>
            <a:off x="548640" y="548640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LINUX DEVICE DRIVER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548640" y="1828800"/>
            <a:ext cx="10058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리눅스 디바이스 드라이버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Jetson Orin Nano에서 유저 공간 제어와 커널 드라이버 구현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"/>
          <p:cNvCxnSpPr/>
          <p:nvPr/>
        </p:nvCxnSpPr>
        <p:spPr>
          <a:xfrm>
            <a:off x="548640" y="5394960"/>
            <a:ext cx="11091672" cy="0"/>
          </a:xfrm>
          <a:prstGeom prst="straightConnector1">
            <a:avLst/>
          </a:prstGeom>
          <a:noFill/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 txBox="1"/>
          <p:nvPr/>
        </p:nvSpPr>
        <p:spPr>
          <a:xfrm>
            <a:off x="6153912" y="55778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김경태, 박상현, 석민정, 조성수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00 — 목차</a:t>
            </a:r>
            <a:endParaRPr sz="1000"/>
          </a:p>
        </p:txBody>
      </p:sp>
      <p:sp>
        <p:nvSpPr>
          <p:cNvPr id="36" name="Google Shape;36;p2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sz="3000"/>
          </a:p>
        </p:txBody>
      </p:sp>
      <p:sp>
        <p:nvSpPr>
          <p:cNvPr id="37" name="Google Shape;37;p2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/>
          </a:p>
        </p:txBody>
      </p:sp>
      <p:sp>
        <p:nvSpPr>
          <p:cNvPr id="38" name="Google Shape;38;p2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sz="1000"/>
          </a:p>
        </p:txBody>
      </p:sp>
      <p:sp>
        <p:nvSpPr>
          <p:cNvPr id="39" name="Google Shape;39;p2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02 / 26</a:t>
            </a:r>
            <a:endParaRPr sz="1000"/>
          </a:p>
        </p:txBody>
      </p:sp>
      <p:cxnSp>
        <p:nvCxnSpPr>
          <p:cNvPr id="40" name="Google Shape;40;p2"/>
          <p:cNvCxnSpPr/>
          <p:nvPr/>
        </p:nvCxnSpPr>
        <p:spPr>
          <a:xfrm>
            <a:off x="548640" y="1874520"/>
            <a:ext cx="7315200" cy="0"/>
          </a:xfrm>
          <a:prstGeom prst="straightConnector1">
            <a:avLst/>
          </a:prstGeom>
          <a:noFill/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2"/>
          <p:cNvSpPr txBox="1"/>
          <p:nvPr/>
        </p:nvSpPr>
        <p:spPr>
          <a:xfrm>
            <a:off x="548640" y="187452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1463040" y="187452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프로젝트 소개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2"/>
          <p:cNvCxnSpPr/>
          <p:nvPr/>
        </p:nvCxnSpPr>
        <p:spPr>
          <a:xfrm>
            <a:off x="548640" y="2697480"/>
            <a:ext cx="7315200" cy="0"/>
          </a:xfrm>
          <a:prstGeom prst="straightConnector1">
            <a:avLst/>
          </a:prstGeom>
          <a:noFill/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2"/>
          <p:cNvSpPr txBox="1"/>
          <p:nvPr/>
        </p:nvSpPr>
        <p:spPr>
          <a:xfrm>
            <a:off x="548640" y="26974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1463040" y="269748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기본 개념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" name="Google Shape;46;p2"/>
          <p:cNvCxnSpPr/>
          <p:nvPr/>
        </p:nvCxnSpPr>
        <p:spPr>
          <a:xfrm>
            <a:off x="548640" y="3520440"/>
            <a:ext cx="7315200" cy="0"/>
          </a:xfrm>
          <a:prstGeom prst="straightConnector1">
            <a:avLst/>
          </a:prstGeom>
          <a:noFill/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2"/>
          <p:cNvSpPr txBox="1"/>
          <p:nvPr/>
        </p:nvSpPr>
        <p:spPr>
          <a:xfrm>
            <a:off x="548640" y="352044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1463040" y="352044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유저 공간에서 제어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9;p2"/>
          <p:cNvCxnSpPr/>
          <p:nvPr/>
        </p:nvCxnSpPr>
        <p:spPr>
          <a:xfrm>
            <a:off x="548640" y="4343400"/>
            <a:ext cx="7315200" cy="0"/>
          </a:xfrm>
          <a:prstGeom prst="straightConnector1">
            <a:avLst/>
          </a:prstGeom>
          <a:noFill/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2"/>
          <p:cNvSpPr txBox="1"/>
          <p:nvPr/>
        </p:nvSpPr>
        <p:spPr>
          <a:xfrm>
            <a:off x="548640" y="434340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1463040" y="434340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커널 드라이버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" name="Google Shape;52;p2"/>
          <p:cNvCxnSpPr/>
          <p:nvPr/>
        </p:nvCxnSpPr>
        <p:spPr>
          <a:xfrm>
            <a:off x="548640" y="5166360"/>
            <a:ext cx="7315200" cy="0"/>
          </a:xfrm>
          <a:prstGeom prst="straightConnector1">
            <a:avLst/>
          </a:prstGeom>
          <a:noFill/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2"/>
          <p:cNvSpPr txBox="1"/>
          <p:nvPr/>
        </p:nvSpPr>
        <p:spPr>
          <a:xfrm>
            <a:off x="548640" y="51663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1463040" y="516636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마무리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2"/>
          <p:cNvCxnSpPr/>
          <p:nvPr/>
        </p:nvCxnSpPr>
        <p:spPr>
          <a:xfrm>
            <a:off x="548640" y="5989320"/>
            <a:ext cx="7315200" cy="0"/>
          </a:xfrm>
          <a:prstGeom prst="straightConnector1">
            <a:avLst/>
          </a:prstGeom>
          <a:noFill/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01 — 프로젝트 소개</a:t>
            </a:r>
            <a:endParaRPr sz="1000"/>
          </a:p>
        </p:txBody>
      </p:sp>
      <p:sp>
        <p:nvSpPr>
          <p:cNvPr id="62" name="Google Shape;62;p3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프로젝트 소개</a:t>
            </a:r>
            <a:endParaRPr sz="3000"/>
          </a:p>
        </p:txBody>
      </p:sp>
      <p:sp>
        <p:nvSpPr>
          <p:cNvPr id="63" name="Google Shape;63;p3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엔코더로 모터 속도를 바꾸고, LED로 현재 단계를 보여주는 장치</a:t>
            </a:r>
            <a:endParaRPr sz="1500"/>
          </a:p>
        </p:txBody>
      </p:sp>
      <p:sp>
        <p:nvSpPr>
          <p:cNvPr id="64" name="Google Shape;64;p3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프로젝트 소개</a:t>
            </a:r>
            <a:endParaRPr sz="1000"/>
          </a:p>
        </p:txBody>
      </p:sp>
      <p:sp>
        <p:nvSpPr>
          <p:cNvPr id="65" name="Google Shape;65;p3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03 / 26</a:t>
            </a:r>
            <a:endParaRPr sz="1000"/>
          </a:p>
        </p:txBody>
      </p:sp>
      <p:sp>
        <p:nvSpPr>
          <p:cNvPr id="66" name="Google Shape;66;p3"/>
          <p:cNvSpPr txBox="1"/>
          <p:nvPr/>
        </p:nvSpPr>
        <p:spPr>
          <a:xfrm>
            <a:off x="548640" y="187452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사용한 하드웨어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548640" y="2331720"/>
            <a:ext cx="5394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Jetson Orin Nano (JetPack · 커널 5.15)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EC11 로터리 엔코더 — 입력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L298N 모터 드라이버 + DC 모터 — 출력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8칸 LED Bar — 표시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548640" y="438912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같은 기능을 두 가지 방법으로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548640" y="4846320"/>
            <a:ext cx="5394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방법 1: 커널에 이미 있는 드라이버를 일반 프로그램에서 사용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방법 2: 장치마다 커널 드라이버를 직접 작성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391" y="1658604"/>
            <a:ext cx="5239512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391" y="1775460"/>
            <a:ext cx="5112128" cy="4226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391" y="1658604"/>
            <a:ext cx="5239512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02 — 기본 개념</a:t>
            </a:r>
            <a:endParaRPr sz="1000"/>
          </a:p>
        </p:txBody>
      </p:sp>
      <p:sp>
        <p:nvSpPr>
          <p:cNvPr id="79" name="Google Shape;79;p4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디바이스 드라이버와 커널</a:t>
            </a:r>
            <a:endParaRPr sz="3000"/>
          </a:p>
        </p:txBody>
      </p:sp>
      <p:sp>
        <p:nvSpPr>
          <p:cNvPr id="80" name="Google Shape;80;p4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기본 개념</a:t>
            </a:r>
            <a:endParaRPr sz="1000"/>
          </a:p>
        </p:txBody>
      </p:sp>
      <p:sp>
        <p:nvSpPr>
          <p:cNvPr id="81" name="Google Shape;81;p4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04 / 26</a:t>
            </a:r>
            <a:endParaRPr sz="1000"/>
          </a:p>
        </p:txBody>
      </p:sp>
      <p:sp>
        <p:nvSpPr>
          <p:cNvPr id="82" name="Google Shape;82;p4"/>
          <p:cNvSpPr/>
          <p:nvPr/>
        </p:nvSpPr>
        <p:spPr>
          <a:xfrm>
            <a:off x="548640" y="1874520"/>
            <a:ext cx="5408676" cy="1325880"/>
          </a:xfrm>
          <a:prstGeom prst="roundRect">
            <a:avLst>
              <a:gd fmla="val 5517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 txBox="1"/>
          <p:nvPr/>
        </p:nvSpPr>
        <p:spPr>
          <a:xfrm>
            <a:off x="822960" y="20574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822960" y="2286000"/>
            <a:ext cx="48600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디바이스 드라이버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822960" y="2606040"/>
            <a:ext cx="48600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운영체제가 특정 하드웨어를 사용할 수 있게 해주는 소프트웨어. 프로그램은 드라이버가 정한 방법으로만 장치를 다룸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231636" y="1874520"/>
            <a:ext cx="5408676" cy="1325880"/>
          </a:xfrm>
          <a:prstGeom prst="roundRect">
            <a:avLst>
              <a:gd fmla="val 5517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 txBox="1"/>
          <p:nvPr/>
        </p:nvSpPr>
        <p:spPr>
          <a:xfrm>
            <a:off x="6505956" y="20574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6505956" y="2286000"/>
            <a:ext cx="48600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유저 공간 / 커널 공간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6505956" y="2606040"/>
            <a:ext cx="48600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일반 프로그램이 도는 영역과 커널이 도는 영역. 유저 공간 프로그램은 시스템 콜로 커널에 요청해야 장치 접근 가능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548640" y="361188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요청이 전달되는 순서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48640" y="4069080"/>
            <a:ext cx="2464308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 txBox="1"/>
          <p:nvPr/>
        </p:nvSpPr>
        <p:spPr>
          <a:xfrm>
            <a:off x="640080" y="4069080"/>
            <a:ext cx="228142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프로그램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(유저 공간)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3012948" y="4069080"/>
            <a:ext cx="411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424428" y="4069080"/>
            <a:ext cx="2464308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 txBox="1"/>
          <p:nvPr/>
        </p:nvSpPr>
        <p:spPr>
          <a:xfrm>
            <a:off x="3515868" y="4069080"/>
            <a:ext cx="228142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시스템 콜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open · read · write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5888736" y="4069080"/>
            <a:ext cx="411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300216" y="4069080"/>
            <a:ext cx="2464308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 txBox="1"/>
          <p:nvPr/>
        </p:nvSpPr>
        <p:spPr>
          <a:xfrm>
            <a:off x="6391656" y="4069080"/>
            <a:ext cx="228142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디바이스 드라이버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(커널 공간)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8764524" y="4069080"/>
            <a:ext cx="411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9176004" y="4069080"/>
            <a:ext cx="2464308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 txBox="1"/>
          <p:nvPr/>
        </p:nvSpPr>
        <p:spPr>
          <a:xfrm>
            <a:off x="9267444" y="4069080"/>
            <a:ext cx="228142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하드웨어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548640" y="539496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이 프로젝트의 두 방법은 '드라이버' 칸을 기존 것으로 쓰느냐, 직접 만드느냐의 차이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/>
          <p:nvPr/>
        </p:nvSpPr>
        <p:spPr>
          <a:xfrm>
            <a:off x="8125968" y="4101084"/>
            <a:ext cx="2464308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4588764" y="4128516"/>
            <a:ext cx="2464308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548640" y="4101084"/>
            <a:ext cx="2464308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02 — 기본 개념</a:t>
            </a:r>
            <a:endParaRPr sz="1000"/>
          </a:p>
        </p:txBody>
      </p:sp>
      <p:sp>
        <p:nvSpPr>
          <p:cNvPr id="112" name="Google Shape;112;p5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리눅스에서 장치를 다루는 통로</a:t>
            </a:r>
            <a:endParaRPr sz="3000"/>
          </a:p>
        </p:txBody>
      </p:sp>
      <p:sp>
        <p:nvSpPr>
          <p:cNvPr id="113" name="Google Shape;113;p5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기본 개념</a:t>
            </a:r>
            <a:endParaRPr sz="1000"/>
          </a:p>
        </p:txBody>
      </p:sp>
      <p:sp>
        <p:nvSpPr>
          <p:cNvPr id="114" name="Google Shape;114;p5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05 / 26</a:t>
            </a:r>
            <a:endParaRPr sz="1000"/>
          </a:p>
        </p:txBody>
      </p:sp>
      <p:sp>
        <p:nvSpPr>
          <p:cNvPr id="115" name="Google Shape;115;p5"/>
          <p:cNvSpPr/>
          <p:nvPr/>
        </p:nvSpPr>
        <p:spPr>
          <a:xfrm>
            <a:off x="548640" y="1874520"/>
            <a:ext cx="3514344" cy="1600200"/>
          </a:xfrm>
          <a:prstGeom prst="roundRect">
            <a:avLst>
              <a:gd fmla="val 4571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 txBox="1"/>
          <p:nvPr/>
        </p:nvSpPr>
        <p:spPr>
          <a:xfrm>
            <a:off x="822960" y="20574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822960" y="2286000"/>
            <a:ext cx="29657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장치 파일 (/dev)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822960" y="2606040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장치를 open · read · write 할 수 있게 만든 특수 파일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548640" y="3840480"/>
            <a:ext cx="3514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이 프로젝트의 예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1165860" y="4288318"/>
            <a:ext cx="35143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/dev/gpiochip0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1340031" y="4649724"/>
            <a:ext cx="35143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/dev/ec11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337304" y="1874520"/>
            <a:ext cx="3514344" cy="1600200"/>
          </a:xfrm>
          <a:prstGeom prst="roundRect">
            <a:avLst>
              <a:gd fmla="val 4571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611624" y="20574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4611624" y="2286000"/>
            <a:ext cx="29657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sysfs (/sys)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4611624" y="2606040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커널이 장치 설정을 파일로 보여주는 가상 파일 시스템, 값을 쓰면 설정이 바뀜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4337304" y="3840480"/>
            <a:ext cx="3514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이 프로젝의 예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4703064" y="4494058"/>
            <a:ext cx="35143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/sys/class/pwm/…/duty_cycle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8125968" y="1874520"/>
            <a:ext cx="3514344" cy="1600200"/>
          </a:xfrm>
          <a:prstGeom prst="roundRect">
            <a:avLst>
              <a:gd fmla="val 4571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>
            <a:off x="8400288" y="20574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8400288" y="2286000"/>
            <a:ext cx="29657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read · write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8400288" y="2606040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장치 파일에서 데이터를 읽어 오고(read) 보내는(write) 기본 시스템 콜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8125968" y="3840480"/>
            <a:ext cx="3514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이 프로젝트의 예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8641515" y="4288318"/>
            <a:ext cx="35143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read(fd, &amp;ev, 12)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8641515" y="4635137"/>
            <a:ext cx="35143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write(fd, "50", 2)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03 — 유저 공간에서 제어</a:t>
            </a:r>
            <a:endParaRPr sz="1000"/>
          </a:p>
        </p:txBody>
      </p:sp>
      <p:sp>
        <p:nvSpPr>
          <p:cNvPr id="141" name="Google Shape;141;p6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유저 공간 구현 개요</a:t>
            </a:r>
            <a:endParaRPr sz="3000"/>
          </a:p>
        </p:txBody>
      </p:sp>
      <p:sp>
        <p:nvSpPr>
          <p:cNvPr id="142" name="Google Shape;142;p6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커널은 수정하지 않고, 일반 프로그램 하나로 세 장치를 제어</a:t>
            </a:r>
            <a:endParaRPr sz="1500"/>
          </a:p>
        </p:txBody>
      </p:sp>
      <p:sp>
        <p:nvSpPr>
          <p:cNvPr id="143" name="Google Shape;143;p6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유저 공간 제어</a:t>
            </a:r>
            <a:endParaRPr sz="1000"/>
          </a:p>
        </p:txBody>
      </p:sp>
      <p:sp>
        <p:nvSpPr>
          <p:cNvPr id="144" name="Google Shape;144;p6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06 / 26</a:t>
            </a:r>
            <a:endParaRPr sz="1000"/>
          </a:p>
        </p:txBody>
      </p:sp>
      <p:sp>
        <p:nvSpPr>
          <p:cNvPr id="145" name="Google Shape;145;p6"/>
          <p:cNvSpPr txBox="1"/>
          <p:nvPr/>
        </p:nvSpPr>
        <p:spPr>
          <a:xfrm>
            <a:off x="548640" y="187452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GPIO 경로 (LED · 엔코더 · 버튼 · 모터 방향)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48640" y="2286000"/>
            <a:ext cx="2464308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640080" y="2286000"/>
            <a:ext cx="22814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fan_controller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3012948" y="228600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424428" y="2286000"/>
            <a:ext cx="2464308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3515868" y="2286000"/>
            <a:ext cx="22814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libgpiod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5888736" y="228600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300216" y="2286000"/>
            <a:ext cx="2464308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6391656" y="2286000"/>
            <a:ext cx="22814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/dev/gpiochip0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8764524" y="228600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9176004" y="2286000"/>
            <a:ext cx="2464308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9267444" y="2286000"/>
            <a:ext cx="22814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커널 GPIO 드라이버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548640" y="338328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PWM 경로 (모터 속도)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48640" y="3794760"/>
            <a:ext cx="2464308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640080" y="3794760"/>
            <a:ext cx="22814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fan_controller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3012948" y="379476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424428" y="3794760"/>
            <a:ext cx="2464308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3515868" y="3794760"/>
            <a:ext cx="22814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파일 쓰기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5888736" y="379476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300216" y="3794760"/>
            <a:ext cx="2464308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6391656" y="3794760"/>
            <a:ext cx="22814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/sys/class/pwm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8764524" y="379476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9176004" y="3794760"/>
            <a:ext cx="2464308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9267444" y="3794760"/>
            <a:ext cx="22814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커널 PWM 드라이버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" name="Google Shape;169;p6"/>
          <p:cNvGraphicFramePr/>
          <p:nvPr/>
        </p:nvGraphicFramePr>
        <p:xfrm>
          <a:off x="548640" y="4937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{4B330C53-4501-47B6-A45A-62F26BFDEAF5}</a:tableStyleId>
              </a:tblPr>
              <a:tblGrid>
                <a:gridCol w="2926075"/>
                <a:gridCol w="81656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6C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0706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파일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6C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0706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역할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EE7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fan_controller.c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메인 루프 · 엔코더 해석 · 버튼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fan.c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모터 (PWM 속도 + 방향 GPIO)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ledbar.c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LED 8칸 출력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03 — 유저 공간에서 제어</a:t>
            </a:r>
            <a:endParaRPr sz="1000"/>
          </a:p>
        </p:txBody>
      </p:sp>
      <p:sp>
        <p:nvSpPr>
          <p:cNvPr id="176" name="Google Shape;176;p7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유저 공간 구현 동작 원리</a:t>
            </a:r>
            <a:endParaRPr sz="3000"/>
          </a:p>
        </p:txBody>
      </p:sp>
      <p:sp>
        <p:nvSpPr>
          <p:cNvPr id="177" name="Google Shape;177;p7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유저 공간 제어</a:t>
            </a:r>
            <a:endParaRPr sz="1000"/>
          </a:p>
        </p:txBody>
      </p:sp>
      <p:sp>
        <p:nvSpPr>
          <p:cNvPr id="178" name="Google Shape;178;p7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07 / 26</a:t>
            </a:r>
            <a:endParaRPr sz="1000"/>
          </a:p>
        </p:txBody>
      </p:sp>
      <p:sp>
        <p:nvSpPr>
          <p:cNvPr id="179" name="Google Shape;179;p7"/>
          <p:cNvSpPr/>
          <p:nvPr/>
        </p:nvSpPr>
        <p:spPr>
          <a:xfrm>
            <a:off x="548640" y="1874520"/>
            <a:ext cx="11091672" cy="1207008"/>
          </a:xfrm>
          <a:prstGeom prst="roundRect">
            <a:avLst>
              <a:gd fmla="val 4545" name="adj"/>
            </a:avLst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749808" y="218541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프로그램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749808" y="249631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fan_controller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48640" y="3191256"/>
            <a:ext cx="11091672" cy="1207008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749808" y="3502152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커널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749808" y="381304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기존 드라이버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48640" y="4507992"/>
            <a:ext cx="11091672" cy="1207008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 txBox="1"/>
          <p:nvPr/>
        </p:nvSpPr>
        <p:spPr>
          <a:xfrm>
            <a:off x="749808" y="481888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하드웨어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828800" y="4654296"/>
            <a:ext cx="1225296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 txBox="1"/>
          <p:nvPr/>
        </p:nvSpPr>
        <p:spPr>
          <a:xfrm>
            <a:off x="1920240" y="4718304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1883664" y="4901184"/>
            <a:ext cx="11155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노브 회전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7"/>
          <p:cNvCxnSpPr/>
          <p:nvPr/>
        </p:nvCxnSpPr>
        <p:spPr>
          <a:xfrm flipH="1" rot="10800000">
            <a:off x="3054096" y="3794760"/>
            <a:ext cx="182880" cy="1316736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" name="Google Shape;191;p7"/>
          <p:cNvSpPr/>
          <p:nvPr/>
        </p:nvSpPr>
        <p:spPr>
          <a:xfrm>
            <a:off x="3236976" y="3337560"/>
            <a:ext cx="1225296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3328416" y="340156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3291840" y="3584448"/>
            <a:ext cx="11155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GPIO 드라이버가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이벤트 기록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7"/>
          <p:cNvCxnSpPr/>
          <p:nvPr/>
        </p:nvCxnSpPr>
        <p:spPr>
          <a:xfrm flipH="1" rot="10800000">
            <a:off x="4462272" y="2478024"/>
            <a:ext cx="182880" cy="1316736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5" name="Google Shape;195;p7"/>
          <p:cNvSpPr/>
          <p:nvPr/>
        </p:nvSpPr>
        <p:spPr>
          <a:xfrm>
            <a:off x="4645152" y="2020824"/>
            <a:ext cx="1225296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 txBox="1"/>
          <p:nvPr/>
        </p:nvSpPr>
        <p:spPr>
          <a:xfrm>
            <a:off x="4736592" y="208483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4700016" y="2267712"/>
            <a:ext cx="11155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깨어나서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이벤트 읽기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7"/>
          <p:cNvCxnSpPr/>
          <p:nvPr/>
        </p:nvCxnSpPr>
        <p:spPr>
          <a:xfrm>
            <a:off x="5870448" y="2478024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" name="Google Shape;199;p7"/>
          <p:cNvSpPr/>
          <p:nvPr/>
        </p:nvSpPr>
        <p:spPr>
          <a:xfrm>
            <a:off x="6053328" y="2020824"/>
            <a:ext cx="1225296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 txBox="1"/>
          <p:nvPr/>
        </p:nvSpPr>
        <p:spPr>
          <a:xfrm>
            <a:off x="6144768" y="208483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6108192" y="2267712"/>
            <a:ext cx="11155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상태 표로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±1 계산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7"/>
          <p:cNvCxnSpPr/>
          <p:nvPr/>
        </p:nvCxnSpPr>
        <p:spPr>
          <a:xfrm>
            <a:off x="7278624" y="2478024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" name="Google Shape;203;p7"/>
          <p:cNvSpPr/>
          <p:nvPr/>
        </p:nvSpPr>
        <p:spPr>
          <a:xfrm>
            <a:off x="7461504" y="2020824"/>
            <a:ext cx="1225296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7552944" y="208483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7516368" y="2267712"/>
            <a:ext cx="11155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PWM · LED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값 쓰기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7"/>
          <p:cNvCxnSpPr/>
          <p:nvPr/>
        </p:nvCxnSpPr>
        <p:spPr>
          <a:xfrm>
            <a:off x="8686800" y="2478024"/>
            <a:ext cx="182880" cy="1316736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7" name="Google Shape;207;p7"/>
          <p:cNvSpPr/>
          <p:nvPr/>
        </p:nvSpPr>
        <p:spPr>
          <a:xfrm>
            <a:off x="8869680" y="3337560"/>
            <a:ext cx="1225296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8961120" y="340156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8924544" y="3584448"/>
            <a:ext cx="11155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드라이버가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핀 출력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7"/>
          <p:cNvCxnSpPr/>
          <p:nvPr/>
        </p:nvCxnSpPr>
        <p:spPr>
          <a:xfrm>
            <a:off x="10094976" y="3794760"/>
            <a:ext cx="182880" cy="1316736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1" name="Google Shape;211;p7"/>
          <p:cNvSpPr/>
          <p:nvPr/>
        </p:nvSpPr>
        <p:spPr>
          <a:xfrm>
            <a:off x="10277856" y="4654296"/>
            <a:ext cx="1225296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10369296" y="4718304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10332720" y="4901184"/>
            <a:ext cx="11155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모터 · LED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변화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548640" y="5925312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버튼은 루프마다 값을 읽어 30 ms 동안 유지되면 전원 ON / OFF (폴링)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03 — 유저 공간에서 제어</a:t>
            </a:r>
            <a:endParaRPr sz="1000"/>
          </a:p>
        </p:txBody>
      </p:sp>
      <p:sp>
        <p:nvSpPr>
          <p:cNvPr id="221" name="Google Shape;221;p8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libgpiod로 GPIO 다루기</a:t>
            </a:r>
            <a:endParaRPr sz="3000"/>
          </a:p>
        </p:txBody>
      </p:sp>
      <p:sp>
        <p:nvSpPr>
          <p:cNvPr id="222" name="Google Shape;222;p8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유저 공간 제어</a:t>
            </a:r>
            <a:endParaRPr sz="1000"/>
          </a:p>
        </p:txBody>
      </p:sp>
      <p:sp>
        <p:nvSpPr>
          <p:cNvPr id="223" name="Google Shape;223;p8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08 / 26</a:t>
            </a:r>
            <a:endParaRPr sz="1000"/>
          </a:p>
        </p:txBody>
      </p:sp>
      <p:sp>
        <p:nvSpPr>
          <p:cNvPr id="224" name="Google Shape;224;p8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 txBox="1"/>
          <p:nvPr/>
        </p:nvSpPr>
        <p:spPr>
          <a:xfrm>
            <a:off x="822960" y="202996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822960" y="2240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libgpiod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3657600" y="1874520"/>
            <a:ext cx="7708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유저 공간에서 /dev/gpiochipN 장치를 통해 GPIO를 다루는 리눅스 공식 라이브러리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548640" y="3063240"/>
            <a:ext cx="11091672" cy="315468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 txBox="1"/>
          <p:nvPr/>
        </p:nvSpPr>
        <p:spPr>
          <a:xfrm>
            <a:off x="960120" y="338328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속도 단계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960120" y="3749040"/>
            <a:ext cx="1645920" cy="566928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960120" y="3749040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speed = 3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8"/>
          <p:cNvCxnSpPr/>
          <p:nvPr/>
        </p:nvCxnSpPr>
        <p:spPr>
          <a:xfrm>
            <a:off x="2697480" y="4032504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3" name="Google Shape;233;p8"/>
          <p:cNvSpPr txBox="1"/>
          <p:nvPr/>
        </p:nvSpPr>
        <p:spPr>
          <a:xfrm>
            <a:off x="3337560" y="338328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핀에 쓸 값 8개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3337560" y="3749040"/>
            <a:ext cx="429768" cy="566928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 txBox="1"/>
          <p:nvPr/>
        </p:nvSpPr>
        <p:spPr>
          <a:xfrm>
            <a:off x="3337560" y="3749040"/>
            <a:ext cx="4297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813048" y="3749040"/>
            <a:ext cx="429768" cy="566928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 txBox="1"/>
          <p:nvPr/>
        </p:nvSpPr>
        <p:spPr>
          <a:xfrm>
            <a:off x="3813048" y="3749040"/>
            <a:ext cx="4297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288536" y="3749040"/>
            <a:ext cx="429768" cy="566928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 txBox="1"/>
          <p:nvPr/>
        </p:nvSpPr>
        <p:spPr>
          <a:xfrm>
            <a:off x="4288536" y="3749040"/>
            <a:ext cx="4297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4764024" y="3749040"/>
            <a:ext cx="429768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 txBox="1"/>
          <p:nvPr/>
        </p:nvSpPr>
        <p:spPr>
          <a:xfrm>
            <a:off x="4764024" y="3749040"/>
            <a:ext cx="4297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5239512" y="3749040"/>
            <a:ext cx="429768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 txBox="1"/>
          <p:nvPr/>
        </p:nvSpPr>
        <p:spPr>
          <a:xfrm>
            <a:off x="5239512" y="3749040"/>
            <a:ext cx="4297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5715000" y="3749040"/>
            <a:ext cx="429768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 txBox="1"/>
          <p:nvPr/>
        </p:nvSpPr>
        <p:spPr>
          <a:xfrm>
            <a:off x="5715000" y="3749040"/>
            <a:ext cx="4297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190488" y="3749040"/>
            <a:ext cx="429768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 txBox="1"/>
          <p:nvPr/>
        </p:nvSpPr>
        <p:spPr>
          <a:xfrm>
            <a:off x="6190488" y="3749040"/>
            <a:ext cx="4297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665976" y="3749040"/>
            <a:ext cx="429768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 txBox="1"/>
          <p:nvPr/>
        </p:nvSpPr>
        <p:spPr>
          <a:xfrm>
            <a:off x="6665976" y="3749040"/>
            <a:ext cx="4297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8"/>
          <p:cNvCxnSpPr/>
          <p:nvPr/>
        </p:nvCxnSpPr>
        <p:spPr>
          <a:xfrm>
            <a:off x="7232904" y="4032504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1" name="Google Shape;251;p8"/>
          <p:cNvSpPr txBox="1"/>
          <p:nvPr/>
        </p:nvSpPr>
        <p:spPr>
          <a:xfrm>
            <a:off x="7872984" y="338328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LED 1 ~ 8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7872984" y="3840480"/>
            <a:ext cx="384048" cy="384048"/>
          </a:xfrm>
          <a:prstGeom prst="ellipse">
            <a:avLst/>
          </a:prstGeom>
          <a:solidFill>
            <a:srgbClr val="141413"/>
          </a:solidFill>
          <a:ln cap="flat" cmpd="sng" w="1270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8330184" y="3840480"/>
            <a:ext cx="384048" cy="384048"/>
          </a:xfrm>
          <a:prstGeom prst="ellipse">
            <a:avLst/>
          </a:prstGeom>
          <a:solidFill>
            <a:srgbClr val="141413"/>
          </a:solidFill>
          <a:ln cap="flat" cmpd="sng" w="1270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8787384" y="3840480"/>
            <a:ext cx="384048" cy="384048"/>
          </a:xfrm>
          <a:prstGeom prst="ellipse">
            <a:avLst/>
          </a:prstGeom>
          <a:solidFill>
            <a:srgbClr val="141413"/>
          </a:solidFill>
          <a:ln cap="flat" cmpd="sng" w="1270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9244584" y="3840480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C9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9701784" y="3840480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C9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10158984" y="3840480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C9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10616184" y="3840480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C9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11073384" y="3840480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C9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960120" y="4754880"/>
            <a:ext cx="2258568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 txBox="1"/>
          <p:nvPr/>
        </p:nvSpPr>
        <p:spPr>
          <a:xfrm>
            <a:off x="1051560" y="4754880"/>
            <a:ext cx="20756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/dev/gpiochip0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열기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3218688" y="4754880"/>
            <a:ext cx="411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3630168" y="4754880"/>
            <a:ext cx="2258568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 txBox="1"/>
          <p:nvPr/>
        </p:nvSpPr>
        <p:spPr>
          <a:xfrm>
            <a:off x="3721608" y="4754880"/>
            <a:ext cx="20756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LED 8개 핀을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출력으로 요청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5888736" y="4754880"/>
            <a:ext cx="411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6300216" y="4754880"/>
            <a:ext cx="2258568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 txBox="1"/>
          <p:nvPr/>
        </p:nvSpPr>
        <p:spPr>
          <a:xfrm>
            <a:off x="6391656" y="4754880"/>
            <a:ext cx="20756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값 8개를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한 번에 쓰기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8558784" y="4754880"/>
            <a:ext cx="411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8970264" y="4754880"/>
            <a:ext cx="2258568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 txBox="1"/>
          <p:nvPr/>
        </p:nvSpPr>
        <p:spPr>
          <a:xfrm>
            <a:off x="9061704" y="4754880"/>
            <a:ext cx="20756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종료 시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끄고 반납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03 — 유저 공간에서 제어</a:t>
            </a:r>
            <a:endParaRPr sz="1000"/>
          </a:p>
        </p:txBody>
      </p:sp>
      <p:sp>
        <p:nvSpPr>
          <p:cNvPr id="277" name="Google Shape;277;p9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sysfs로 PWM 다루기</a:t>
            </a:r>
            <a:endParaRPr sz="3000"/>
          </a:p>
        </p:txBody>
      </p:sp>
      <p:sp>
        <p:nvSpPr>
          <p:cNvPr id="278" name="Google Shape;278;p9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PWM을 파일 쓰기로 설정</a:t>
            </a:r>
            <a:endParaRPr sz="1500"/>
          </a:p>
        </p:txBody>
      </p:sp>
      <p:sp>
        <p:nvSpPr>
          <p:cNvPr id="279" name="Google Shape;279;p9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유저 공간 제어</a:t>
            </a:r>
            <a:endParaRPr sz="1000"/>
          </a:p>
        </p:txBody>
      </p:sp>
      <p:sp>
        <p:nvSpPr>
          <p:cNvPr id="280" name="Google Shape;280;p9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09 / 26</a:t>
            </a:r>
            <a:endParaRPr sz="1000"/>
          </a:p>
        </p:txBody>
      </p:sp>
      <p:sp>
        <p:nvSpPr>
          <p:cNvPr id="281" name="Google Shape;281;p9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 txBox="1"/>
          <p:nvPr/>
        </p:nvSpPr>
        <p:spPr>
          <a:xfrm>
            <a:off x="822960" y="202996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822960" y="2240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sysfs PWM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3657600" y="1874520"/>
            <a:ext cx="7708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커널 PWM 드라이버가 /sys/class/pwm 아래에 만들어 둔 설정 파일들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548640" y="3063240"/>
            <a:ext cx="5408676" cy="315468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 txBox="1"/>
          <p:nvPr/>
        </p:nvSpPr>
        <p:spPr>
          <a:xfrm>
            <a:off x="914400" y="3337560"/>
            <a:ext cx="46771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/sys/class/pwm/pwmchip3/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914400" y="388620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export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3108960" y="3886200"/>
            <a:ext cx="1371600" cy="411480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 txBox="1"/>
          <p:nvPr/>
        </p:nvSpPr>
        <p:spPr>
          <a:xfrm>
            <a:off x="3108960" y="38862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4617720" y="3886200"/>
            <a:ext cx="11109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채널 사용 시작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914400" y="443484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pwm0/period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3108960" y="4434840"/>
            <a:ext cx="1371600" cy="411480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 txBox="1"/>
          <p:nvPr/>
        </p:nvSpPr>
        <p:spPr>
          <a:xfrm>
            <a:off x="3108960" y="443484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1000000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4617720" y="4434840"/>
            <a:ext cx="11109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주기 1 ms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914400" y="498348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pwm0/duty_cycle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3108960" y="4983480"/>
            <a:ext cx="1371600" cy="411480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 txBox="1"/>
          <p:nvPr/>
        </p:nvSpPr>
        <p:spPr>
          <a:xfrm>
            <a:off x="3108960" y="498348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250000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"/>
          <p:cNvSpPr txBox="1"/>
          <p:nvPr/>
        </p:nvSpPr>
        <p:spPr>
          <a:xfrm>
            <a:off x="4617720" y="4983480"/>
            <a:ext cx="11109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켜진 시간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9"/>
          <p:cNvSpPr txBox="1"/>
          <p:nvPr/>
        </p:nvSpPr>
        <p:spPr>
          <a:xfrm>
            <a:off x="914400" y="553212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pwm0/enable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3108960" y="5532120"/>
            <a:ext cx="1371600" cy="411480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 txBox="1"/>
          <p:nvPr/>
        </p:nvSpPr>
        <p:spPr>
          <a:xfrm>
            <a:off x="3108960" y="553212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4617720" y="5532120"/>
            <a:ext cx="11109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출력 시작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6231636" y="3063240"/>
            <a:ext cx="5408676" cy="3154680"/>
          </a:xfrm>
          <a:prstGeom prst="roundRect">
            <a:avLst>
              <a:gd fmla="val 2319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 txBox="1"/>
          <p:nvPr/>
        </p:nvSpPr>
        <p:spPr>
          <a:xfrm>
            <a:off x="6597396" y="3337560"/>
            <a:ext cx="46771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PIN 32로 나가는 신호 (듀티 25%)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9"/>
          <p:cNvCxnSpPr/>
          <p:nvPr/>
        </p:nvCxnSpPr>
        <p:spPr>
          <a:xfrm>
            <a:off x="6688836" y="3886200"/>
            <a:ext cx="0" cy="82296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9"/>
          <p:cNvCxnSpPr/>
          <p:nvPr/>
        </p:nvCxnSpPr>
        <p:spPr>
          <a:xfrm>
            <a:off x="6688836" y="3886200"/>
            <a:ext cx="561784" cy="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9"/>
          <p:cNvCxnSpPr/>
          <p:nvPr/>
        </p:nvCxnSpPr>
        <p:spPr>
          <a:xfrm>
            <a:off x="7250620" y="3886200"/>
            <a:ext cx="0" cy="82296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9"/>
          <p:cNvCxnSpPr/>
          <p:nvPr/>
        </p:nvCxnSpPr>
        <p:spPr>
          <a:xfrm>
            <a:off x="7250620" y="4709160"/>
            <a:ext cx="1685353" cy="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9"/>
          <p:cNvCxnSpPr/>
          <p:nvPr/>
        </p:nvCxnSpPr>
        <p:spPr>
          <a:xfrm>
            <a:off x="8935974" y="3886200"/>
            <a:ext cx="0" cy="82296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9"/>
          <p:cNvCxnSpPr/>
          <p:nvPr/>
        </p:nvCxnSpPr>
        <p:spPr>
          <a:xfrm>
            <a:off x="8935974" y="3886200"/>
            <a:ext cx="561785" cy="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9"/>
          <p:cNvCxnSpPr/>
          <p:nvPr/>
        </p:nvCxnSpPr>
        <p:spPr>
          <a:xfrm>
            <a:off x="9497759" y="3886200"/>
            <a:ext cx="0" cy="82296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9"/>
          <p:cNvCxnSpPr/>
          <p:nvPr/>
        </p:nvCxnSpPr>
        <p:spPr>
          <a:xfrm>
            <a:off x="9497759" y="4709160"/>
            <a:ext cx="1685353" cy="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9"/>
          <p:cNvCxnSpPr/>
          <p:nvPr/>
        </p:nvCxnSpPr>
        <p:spPr>
          <a:xfrm>
            <a:off x="6688836" y="5029200"/>
            <a:ext cx="2247138" cy="0"/>
          </a:xfrm>
          <a:prstGeom prst="straightConnector1">
            <a:avLst/>
          </a:prstGeom>
          <a:noFill/>
          <a:ln cap="flat" cmpd="sng" w="12700">
            <a:solidFill>
              <a:srgbClr val="70706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4" name="Google Shape;314;p9"/>
          <p:cNvSpPr txBox="1"/>
          <p:nvPr/>
        </p:nvSpPr>
        <p:spPr>
          <a:xfrm>
            <a:off x="6688836" y="5074920"/>
            <a:ext cx="22471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period = 1 ms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9"/>
          <p:cNvCxnSpPr/>
          <p:nvPr/>
        </p:nvCxnSpPr>
        <p:spPr>
          <a:xfrm>
            <a:off x="6688836" y="3749040"/>
            <a:ext cx="561785" cy="0"/>
          </a:xfrm>
          <a:prstGeom prst="straightConnector1">
            <a:avLst/>
          </a:prstGeom>
          <a:noFill/>
          <a:ln cap="flat" cmpd="sng" w="12700">
            <a:solidFill>
              <a:srgbClr val="141413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6" name="Google Shape;316;p9"/>
          <p:cNvSpPr txBox="1"/>
          <p:nvPr/>
        </p:nvSpPr>
        <p:spPr>
          <a:xfrm>
            <a:off x="7342061" y="36118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duty_cycle = 0.25 ms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9"/>
          <p:cNvSpPr txBox="1"/>
          <p:nvPr/>
        </p:nvSpPr>
        <p:spPr>
          <a:xfrm>
            <a:off x="6597396" y="5532120"/>
            <a:ext cx="46771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enable에 1을 쓰는 순간부터 이 신호가 모터 드라이버로 출력됨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204" y="3063240"/>
            <a:ext cx="5386111" cy="3154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03 — 유저 공간에서 제어</a:t>
            </a:r>
            <a:endParaRPr sz="1000"/>
          </a:p>
        </p:txBody>
      </p:sp>
      <p:sp>
        <p:nvSpPr>
          <p:cNvPr id="325" name="Google Shape;325;p10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엔코더 신호 해석하기</a:t>
            </a:r>
            <a:endParaRPr sz="3000"/>
          </a:p>
        </p:txBody>
      </p:sp>
      <p:sp>
        <p:nvSpPr>
          <p:cNvPr id="326" name="Google Shape;326;p10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A · B 두 신호의 변화 순서로 회전 방향을 판단</a:t>
            </a:r>
            <a:endParaRPr sz="1500"/>
          </a:p>
        </p:txBody>
      </p:sp>
      <p:sp>
        <p:nvSpPr>
          <p:cNvPr id="327" name="Google Shape;327;p10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유저 공간 제어</a:t>
            </a:r>
            <a:endParaRPr sz="1000"/>
          </a:p>
        </p:txBody>
      </p:sp>
      <p:sp>
        <p:nvSpPr>
          <p:cNvPr id="328" name="Google Shape;328;p10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10 / 26</a:t>
            </a:r>
            <a:endParaRPr sz="1000"/>
          </a:p>
        </p:txBody>
      </p:sp>
      <p:sp>
        <p:nvSpPr>
          <p:cNvPr id="329" name="Google Shape;329;p10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 txBox="1"/>
          <p:nvPr/>
        </p:nvSpPr>
        <p:spPr>
          <a:xfrm>
            <a:off x="822960" y="202996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0"/>
          <p:cNvSpPr txBox="1"/>
          <p:nvPr/>
        </p:nvSpPr>
        <p:spPr>
          <a:xfrm>
            <a:off x="822960" y="2240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쿼드러처 엔코더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3657600" y="1874520"/>
            <a:ext cx="7708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A · B 두 신호가 시간차를 두고 바뀌는 엔코더. 어느 쪽이 먼저 바뀌는지로 방향 판단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548640" y="3246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시계 방향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2468880" y="3246120"/>
            <a:ext cx="77724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 txBox="1"/>
          <p:nvPr/>
        </p:nvSpPr>
        <p:spPr>
          <a:xfrm>
            <a:off x="2468880" y="324612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10"/>
          <p:cNvCxnSpPr/>
          <p:nvPr/>
        </p:nvCxnSpPr>
        <p:spPr>
          <a:xfrm>
            <a:off x="3291840" y="356616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7" name="Google Shape;337;p10"/>
          <p:cNvSpPr txBox="1"/>
          <p:nvPr/>
        </p:nvSpPr>
        <p:spPr>
          <a:xfrm>
            <a:off x="3246120" y="39044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3794760" y="3246120"/>
            <a:ext cx="77724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 txBox="1"/>
          <p:nvPr/>
        </p:nvSpPr>
        <p:spPr>
          <a:xfrm>
            <a:off x="3794760" y="324612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10"/>
          <p:cNvCxnSpPr/>
          <p:nvPr/>
        </p:nvCxnSpPr>
        <p:spPr>
          <a:xfrm>
            <a:off x="4617720" y="356616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1" name="Google Shape;341;p10"/>
          <p:cNvSpPr txBox="1"/>
          <p:nvPr/>
        </p:nvSpPr>
        <p:spPr>
          <a:xfrm>
            <a:off x="4572000" y="39044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5120640" y="3246120"/>
            <a:ext cx="77724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 txBox="1"/>
          <p:nvPr/>
        </p:nvSpPr>
        <p:spPr>
          <a:xfrm>
            <a:off x="5120640" y="324612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10"/>
          <p:cNvCxnSpPr/>
          <p:nvPr/>
        </p:nvCxnSpPr>
        <p:spPr>
          <a:xfrm>
            <a:off x="5943600" y="356616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5" name="Google Shape;345;p10"/>
          <p:cNvSpPr txBox="1"/>
          <p:nvPr/>
        </p:nvSpPr>
        <p:spPr>
          <a:xfrm>
            <a:off x="5897880" y="39044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6446520" y="3246120"/>
            <a:ext cx="77724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 txBox="1"/>
          <p:nvPr/>
        </p:nvSpPr>
        <p:spPr>
          <a:xfrm>
            <a:off x="6446520" y="324612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10"/>
          <p:cNvCxnSpPr/>
          <p:nvPr/>
        </p:nvCxnSpPr>
        <p:spPr>
          <a:xfrm>
            <a:off x="7269480" y="356616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9" name="Google Shape;349;p10"/>
          <p:cNvSpPr txBox="1"/>
          <p:nvPr/>
        </p:nvSpPr>
        <p:spPr>
          <a:xfrm>
            <a:off x="7223760" y="39044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7772400" y="3246120"/>
            <a:ext cx="77724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 txBox="1"/>
          <p:nvPr/>
        </p:nvSpPr>
        <p:spPr>
          <a:xfrm>
            <a:off x="7772400" y="324612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8915400" y="3246120"/>
            <a:ext cx="2724912" cy="640080"/>
          </a:xfrm>
          <a:prstGeom prst="roundRect">
            <a:avLst>
              <a:gd fmla="val 11429" name="adj"/>
            </a:avLst>
          </a:prstGeom>
          <a:solidFill>
            <a:srgbClr val="1414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 txBox="1"/>
          <p:nvPr/>
        </p:nvSpPr>
        <p:spPr>
          <a:xfrm>
            <a:off x="8915400" y="3246120"/>
            <a:ext cx="27249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합 +4 → 한 칸 증가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0"/>
          <p:cNvSpPr txBox="1"/>
          <p:nvPr/>
        </p:nvSpPr>
        <p:spPr>
          <a:xfrm>
            <a:off x="548640" y="4389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반시계 방향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2468880" y="4389120"/>
            <a:ext cx="77724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 txBox="1"/>
          <p:nvPr/>
        </p:nvSpPr>
        <p:spPr>
          <a:xfrm>
            <a:off x="2468880" y="438912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" name="Google Shape;357;p10"/>
          <p:cNvCxnSpPr/>
          <p:nvPr/>
        </p:nvCxnSpPr>
        <p:spPr>
          <a:xfrm>
            <a:off x="3291840" y="470916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8" name="Google Shape;358;p10"/>
          <p:cNvSpPr txBox="1"/>
          <p:nvPr/>
        </p:nvSpPr>
        <p:spPr>
          <a:xfrm>
            <a:off x="3246120" y="50474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−1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3794760" y="4389120"/>
            <a:ext cx="77724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"/>
          <p:cNvSpPr txBox="1"/>
          <p:nvPr/>
        </p:nvSpPr>
        <p:spPr>
          <a:xfrm>
            <a:off x="3794760" y="438912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1" name="Google Shape;361;p10"/>
          <p:cNvCxnSpPr/>
          <p:nvPr/>
        </p:nvCxnSpPr>
        <p:spPr>
          <a:xfrm>
            <a:off x="4617720" y="470916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2" name="Google Shape;362;p10"/>
          <p:cNvSpPr txBox="1"/>
          <p:nvPr/>
        </p:nvSpPr>
        <p:spPr>
          <a:xfrm>
            <a:off x="4572000" y="50474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−1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5120640" y="4389120"/>
            <a:ext cx="77724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"/>
          <p:cNvSpPr txBox="1"/>
          <p:nvPr/>
        </p:nvSpPr>
        <p:spPr>
          <a:xfrm>
            <a:off x="5120640" y="438912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p10"/>
          <p:cNvCxnSpPr/>
          <p:nvPr/>
        </p:nvCxnSpPr>
        <p:spPr>
          <a:xfrm>
            <a:off x="5943600" y="470916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6" name="Google Shape;366;p10"/>
          <p:cNvSpPr txBox="1"/>
          <p:nvPr/>
        </p:nvSpPr>
        <p:spPr>
          <a:xfrm>
            <a:off x="5897880" y="50474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−1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6446520" y="4389120"/>
            <a:ext cx="77724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 txBox="1"/>
          <p:nvPr/>
        </p:nvSpPr>
        <p:spPr>
          <a:xfrm>
            <a:off x="6446520" y="438912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" name="Google Shape;369;p10"/>
          <p:cNvCxnSpPr/>
          <p:nvPr/>
        </p:nvCxnSpPr>
        <p:spPr>
          <a:xfrm>
            <a:off x="7269480" y="470916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0" name="Google Shape;370;p10"/>
          <p:cNvSpPr txBox="1"/>
          <p:nvPr/>
        </p:nvSpPr>
        <p:spPr>
          <a:xfrm>
            <a:off x="7223760" y="50474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−1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7772400" y="4389120"/>
            <a:ext cx="77724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/>
          <p:cNvSpPr txBox="1"/>
          <p:nvPr/>
        </p:nvSpPr>
        <p:spPr>
          <a:xfrm>
            <a:off x="7772400" y="438912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8915400" y="4389120"/>
            <a:ext cx="2724912" cy="640080"/>
          </a:xfrm>
          <a:prstGeom prst="roundRect">
            <a:avLst>
              <a:gd fmla="val 11429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 txBox="1"/>
          <p:nvPr/>
        </p:nvSpPr>
        <p:spPr>
          <a:xfrm>
            <a:off x="8915400" y="4389120"/>
            <a:ext cx="27249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합 −4 → 한 칸 감소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5" name="Google Shape;375;p10"/>
          <p:cNvCxnSpPr/>
          <p:nvPr/>
        </p:nvCxnSpPr>
        <p:spPr>
          <a:xfrm>
            <a:off x="548640" y="5440680"/>
            <a:ext cx="11091672" cy="0"/>
          </a:xfrm>
          <a:prstGeom prst="straightConnector1">
            <a:avLst/>
          </a:prstGeom>
          <a:noFill/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6" name="Google Shape;376;p10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중간에 튀거나 되돌아가면 합이 ±4가 되지 않아 무시 · 버튼은 30 ms 동안 값이 유지될 때만 눌림으로 인정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03 — 유저 공간에서 제어</a:t>
            </a:r>
            <a:endParaRPr sz="1000"/>
          </a:p>
        </p:txBody>
      </p:sp>
      <p:sp>
        <p:nvSpPr>
          <p:cNvPr id="383" name="Google Shape;383;p11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유저 공간 구현 실행 결과</a:t>
            </a:r>
            <a:endParaRPr sz="3000"/>
          </a:p>
        </p:txBody>
      </p:sp>
      <p:sp>
        <p:nvSpPr>
          <p:cNvPr id="384" name="Google Shape;384;p11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버튼으로 전원을 켜고, 노브를 돌려 단계 1 ~ 8을 오르내린 기록</a:t>
            </a:r>
            <a:endParaRPr sz="1500"/>
          </a:p>
        </p:txBody>
      </p:sp>
      <p:sp>
        <p:nvSpPr>
          <p:cNvPr id="385" name="Google Shape;385;p11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유저 공간 제어</a:t>
            </a:r>
            <a:endParaRPr sz="1000"/>
          </a:p>
        </p:txBody>
      </p:sp>
      <p:sp>
        <p:nvSpPr>
          <p:cNvPr id="386" name="Google Shape;386;p11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11 / 26</a:t>
            </a:r>
            <a:endParaRPr sz="1000"/>
          </a:p>
        </p:txBody>
      </p:sp>
      <p:pic>
        <p:nvPicPr>
          <p:cNvPr descr="fan_controller 실행 터미널 화면" id="387" name="Google Shape;38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874520"/>
            <a:ext cx="3739311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1"/>
          <p:cNvSpPr txBox="1"/>
          <p:nvPr/>
        </p:nvSpPr>
        <p:spPr>
          <a:xfrm>
            <a:off x="4745151" y="1874520"/>
            <a:ext cx="689516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실행 명령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4745151" y="2148840"/>
            <a:ext cx="6895161" cy="548640"/>
          </a:xfrm>
          <a:prstGeom prst="roundRect">
            <a:avLst>
              <a:gd fmla="val 13333" name="adj"/>
            </a:avLst>
          </a:prstGeom>
          <a:solidFill>
            <a:srgbClr val="232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1"/>
          <p:cNvSpPr txBox="1"/>
          <p:nvPr/>
        </p:nvSpPr>
        <p:spPr>
          <a:xfrm>
            <a:off x="5019471" y="2148840"/>
            <a:ext cx="6346521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sudo ./fan_controller 1000000 60 65 70 75 80 85 90 95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1"/>
          <p:cNvSpPr txBox="1"/>
          <p:nvPr/>
        </p:nvSpPr>
        <p:spPr>
          <a:xfrm>
            <a:off x="4745151" y="2788920"/>
            <a:ext cx="6895161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1000000 = PWM 주기 1 ms      60 ~ 95 = 단계 1 ~ 8의 듀티(%)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1"/>
          <p:cNvSpPr txBox="1"/>
          <p:nvPr/>
        </p:nvSpPr>
        <p:spPr>
          <a:xfrm>
            <a:off x="4745151" y="3337560"/>
            <a:ext cx="689516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로그 읽는 법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3" name="Google Shape;393;p11"/>
          <p:cNvGraphicFramePr/>
          <p:nvPr/>
        </p:nvGraphicFramePr>
        <p:xfrm>
          <a:off x="4745151" y="3611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{4B330C53-4501-47B6-A45A-62F26BFDEAF5}</a:tableStyleId>
              </a:tblPr>
              <a:tblGrid>
                <a:gridCol w="2926075"/>
                <a:gridCol w="3969075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6C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0706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출력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6C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0706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의미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EE7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POWER: ON | SPEED: 1 / 8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버튼을 눌러 단계 1로 시작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MOTOR: level=N duty=X%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duty_cycle 파일에 쓴 값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SPEED: N / 8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LED에 켜진 칸 수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POWER: OFF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버튼을 다시 눌러 모터 · LED 끔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2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04 — 커널 드라이버</a:t>
            </a:r>
            <a:endParaRPr sz="1000"/>
          </a:p>
        </p:txBody>
      </p:sp>
      <p:sp>
        <p:nvSpPr>
          <p:cNvPr id="400" name="Google Shape;400;p12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커널 드라이버 구현 개요</a:t>
            </a:r>
            <a:endParaRPr sz="3000"/>
          </a:p>
        </p:txBody>
      </p:sp>
      <p:sp>
        <p:nvSpPr>
          <p:cNvPr id="401" name="Google Shape;401;p12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장치마다 커널 드라이버를 만들고, 프로그램은 장치 파일만 사용</a:t>
            </a:r>
            <a:endParaRPr sz="1500"/>
          </a:p>
        </p:txBody>
      </p:sp>
      <p:sp>
        <p:nvSpPr>
          <p:cNvPr id="402" name="Google Shape;402;p12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커널 드라이버 구현</a:t>
            </a:r>
            <a:endParaRPr sz="1000"/>
          </a:p>
        </p:txBody>
      </p:sp>
      <p:sp>
        <p:nvSpPr>
          <p:cNvPr id="403" name="Google Shape;403;p12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12 / 26</a:t>
            </a:r>
            <a:endParaRPr sz="1000"/>
          </a:p>
        </p:txBody>
      </p:sp>
      <p:sp>
        <p:nvSpPr>
          <p:cNvPr id="404" name="Google Shape;404;p12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 txBox="1"/>
          <p:nvPr/>
        </p:nvSpPr>
        <p:spPr>
          <a:xfrm>
            <a:off x="822960" y="202996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2"/>
          <p:cNvSpPr txBox="1"/>
          <p:nvPr/>
        </p:nvSpPr>
        <p:spPr>
          <a:xfrm>
            <a:off x="822960" y="2240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커널 모듈 (.ko)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2"/>
          <p:cNvSpPr txBox="1"/>
          <p:nvPr/>
        </p:nvSpPr>
        <p:spPr>
          <a:xfrm>
            <a:off x="3657600" y="1874520"/>
            <a:ext cx="7708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커널이 실행 중일 때 넣고(insmod) 뺄(rmmod) 수 있는 코드. 드라이버를 모듈로 구현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548640" y="3017520"/>
            <a:ext cx="4331173" cy="3200400"/>
          </a:xfrm>
          <a:prstGeom prst="roundRect">
            <a:avLst>
              <a:gd fmla="val 2286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사용자 앱과 커널 모듈 3개, 하드웨어 사이의 구조도" id="409" name="Google Shape;4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3063240"/>
            <a:ext cx="4239733" cy="31089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0" name="Google Shape;410;p12"/>
          <p:cNvGraphicFramePr/>
          <p:nvPr/>
        </p:nvGraphicFramePr>
        <p:xfrm>
          <a:off x="5245573" y="3017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{4B330C53-4501-47B6-A45A-62F26BFDEAF5}</a:tableStyleId>
              </a:tblPr>
              <a:tblGrid>
                <a:gridCol w="2103125"/>
                <a:gridCol w="4291625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6C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0706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모듈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6C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0706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하는 일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EE7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ec11_driver.ko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엔코더 · 버튼을 인터럽트로 읽어 이벤트 전달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l298n_driver.ko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모터 방향(GPIO)과 속도(PWM) 설정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led_bar_driver.ko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LED 8칸 켜기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1" name="Google Shape;411;p12"/>
          <p:cNvSpPr/>
          <p:nvPr/>
        </p:nvSpPr>
        <p:spPr>
          <a:xfrm>
            <a:off x="5245573" y="5532120"/>
            <a:ext cx="6394739" cy="685800"/>
          </a:xfrm>
          <a:prstGeom prst="roundRect">
            <a:avLst>
              <a:gd fmla="val 10667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 txBox="1"/>
          <p:nvPr/>
        </p:nvSpPr>
        <p:spPr>
          <a:xfrm>
            <a:off x="5565613" y="5532120"/>
            <a:ext cx="5754659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입력 해석과 장치 제어는 모듈이 맡고,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프로그램은 장치 파일만 열어 작성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3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04 — 커널 드라이버</a:t>
            </a:r>
            <a:endParaRPr sz="1000"/>
          </a:p>
        </p:txBody>
      </p:sp>
      <p:sp>
        <p:nvSpPr>
          <p:cNvPr id="419" name="Google Shape;419;p13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커널 드라이버 구현 동작 원리</a:t>
            </a:r>
            <a:endParaRPr sz="3000"/>
          </a:p>
        </p:txBody>
      </p:sp>
      <p:sp>
        <p:nvSpPr>
          <p:cNvPr id="420" name="Google Shape;420;p13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커널 드라이버 구현</a:t>
            </a:r>
            <a:endParaRPr sz="1000"/>
          </a:p>
        </p:txBody>
      </p:sp>
      <p:sp>
        <p:nvSpPr>
          <p:cNvPr id="421" name="Google Shape;421;p13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13 / 26</a:t>
            </a:r>
            <a:endParaRPr sz="1000"/>
          </a:p>
        </p:txBody>
      </p:sp>
      <p:sp>
        <p:nvSpPr>
          <p:cNvPr id="422" name="Google Shape;422;p13"/>
          <p:cNvSpPr/>
          <p:nvPr/>
        </p:nvSpPr>
        <p:spPr>
          <a:xfrm>
            <a:off x="548640" y="1874520"/>
            <a:ext cx="11091672" cy="1207008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"/>
          <p:cNvSpPr txBox="1"/>
          <p:nvPr/>
        </p:nvSpPr>
        <p:spPr>
          <a:xfrm>
            <a:off x="749808" y="218541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프로그램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3"/>
          <p:cNvSpPr txBox="1"/>
          <p:nvPr/>
        </p:nvSpPr>
        <p:spPr>
          <a:xfrm>
            <a:off x="749808" y="249631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motor_daemon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548640" y="3191256"/>
            <a:ext cx="11091672" cy="1207008"/>
          </a:xfrm>
          <a:prstGeom prst="roundRect">
            <a:avLst>
              <a:gd fmla="val 4545" name="adj"/>
            </a:avLst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 txBox="1"/>
          <p:nvPr/>
        </p:nvSpPr>
        <p:spPr>
          <a:xfrm>
            <a:off x="749808" y="3502152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커널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3"/>
          <p:cNvSpPr txBox="1"/>
          <p:nvPr/>
        </p:nvSpPr>
        <p:spPr>
          <a:xfrm>
            <a:off x="749808" y="381304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우리 드라이버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548640" y="4507992"/>
            <a:ext cx="11091672" cy="1207008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3"/>
          <p:cNvSpPr txBox="1"/>
          <p:nvPr/>
        </p:nvSpPr>
        <p:spPr>
          <a:xfrm>
            <a:off x="749808" y="481888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하드웨어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1828800" y="4654296"/>
            <a:ext cx="1225296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3"/>
          <p:cNvSpPr txBox="1"/>
          <p:nvPr/>
        </p:nvSpPr>
        <p:spPr>
          <a:xfrm>
            <a:off x="1920240" y="4718304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3"/>
          <p:cNvSpPr txBox="1"/>
          <p:nvPr/>
        </p:nvSpPr>
        <p:spPr>
          <a:xfrm>
            <a:off x="1883664" y="4901184"/>
            <a:ext cx="11155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노브 회전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" name="Google Shape;433;p13"/>
          <p:cNvCxnSpPr/>
          <p:nvPr/>
        </p:nvCxnSpPr>
        <p:spPr>
          <a:xfrm flipH="1" rot="10800000">
            <a:off x="3054096" y="3794760"/>
            <a:ext cx="182880" cy="1316736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4" name="Google Shape;434;p13"/>
          <p:cNvSpPr/>
          <p:nvPr/>
        </p:nvSpPr>
        <p:spPr>
          <a:xfrm>
            <a:off x="3236976" y="3337560"/>
            <a:ext cx="1225296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3"/>
          <p:cNvSpPr txBox="1"/>
          <p:nvPr/>
        </p:nvSpPr>
        <p:spPr>
          <a:xfrm>
            <a:off x="3328416" y="340156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3"/>
          <p:cNvSpPr txBox="1"/>
          <p:nvPr/>
        </p:nvSpPr>
        <p:spPr>
          <a:xfrm>
            <a:off x="3291840" y="3584448"/>
            <a:ext cx="11155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ec11 핸들러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방향 계산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13"/>
          <p:cNvCxnSpPr/>
          <p:nvPr/>
        </p:nvCxnSpPr>
        <p:spPr>
          <a:xfrm>
            <a:off x="4462272" y="3794760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8" name="Google Shape;438;p13"/>
          <p:cNvSpPr/>
          <p:nvPr/>
        </p:nvSpPr>
        <p:spPr>
          <a:xfrm>
            <a:off x="4645152" y="3337560"/>
            <a:ext cx="1225296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"/>
          <p:cNvSpPr txBox="1"/>
          <p:nvPr/>
        </p:nvSpPr>
        <p:spPr>
          <a:xfrm>
            <a:off x="4736592" y="340156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3"/>
          <p:cNvSpPr txBox="1"/>
          <p:nvPr/>
        </p:nvSpPr>
        <p:spPr>
          <a:xfrm>
            <a:off x="4700016" y="3584448"/>
            <a:ext cx="11155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큐에 저장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프로그램 깨움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1" name="Google Shape;441;p13"/>
          <p:cNvCxnSpPr/>
          <p:nvPr/>
        </p:nvCxnSpPr>
        <p:spPr>
          <a:xfrm flipH="1" rot="10800000">
            <a:off x="5870448" y="2478024"/>
            <a:ext cx="182880" cy="1316736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2" name="Google Shape;442;p13"/>
          <p:cNvSpPr/>
          <p:nvPr/>
        </p:nvSpPr>
        <p:spPr>
          <a:xfrm>
            <a:off x="6053328" y="2020824"/>
            <a:ext cx="1225296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3"/>
          <p:cNvSpPr txBox="1"/>
          <p:nvPr/>
        </p:nvSpPr>
        <p:spPr>
          <a:xfrm>
            <a:off x="6144768" y="208483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3"/>
          <p:cNvSpPr txBox="1"/>
          <p:nvPr/>
        </p:nvSpPr>
        <p:spPr>
          <a:xfrm>
            <a:off x="6108192" y="2267712"/>
            <a:ext cx="11155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read로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이벤트 받기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5" name="Google Shape;445;p13"/>
          <p:cNvCxnSpPr/>
          <p:nvPr/>
        </p:nvCxnSpPr>
        <p:spPr>
          <a:xfrm>
            <a:off x="7278624" y="2478024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6" name="Google Shape;446;p13"/>
          <p:cNvSpPr/>
          <p:nvPr/>
        </p:nvSpPr>
        <p:spPr>
          <a:xfrm>
            <a:off x="7461504" y="2020824"/>
            <a:ext cx="1225296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3"/>
          <p:cNvSpPr txBox="1"/>
          <p:nvPr/>
        </p:nvSpPr>
        <p:spPr>
          <a:xfrm>
            <a:off x="7552944" y="208483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3"/>
          <p:cNvSpPr txBox="1"/>
          <p:nvPr/>
        </p:nvSpPr>
        <p:spPr>
          <a:xfrm>
            <a:off x="7516368" y="2267712"/>
            <a:ext cx="11155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단계 계산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설정 요청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" name="Google Shape;449;p13"/>
          <p:cNvCxnSpPr/>
          <p:nvPr/>
        </p:nvCxnSpPr>
        <p:spPr>
          <a:xfrm>
            <a:off x="8686800" y="2478024"/>
            <a:ext cx="182880" cy="1316736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0" name="Google Shape;450;p13"/>
          <p:cNvSpPr/>
          <p:nvPr/>
        </p:nvSpPr>
        <p:spPr>
          <a:xfrm>
            <a:off x="8869680" y="3337560"/>
            <a:ext cx="1225296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3"/>
          <p:cNvSpPr txBox="1"/>
          <p:nvPr/>
        </p:nvSpPr>
        <p:spPr>
          <a:xfrm>
            <a:off x="8961120" y="340156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3"/>
          <p:cNvSpPr txBox="1"/>
          <p:nvPr/>
        </p:nvSpPr>
        <p:spPr>
          <a:xfrm>
            <a:off x="8924544" y="3584448"/>
            <a:ext cx="11155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드라이버가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PWM · GPIO 설정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p13"/>
          <p:cNvCxnSpPr/>
          <p:nvPr/>
        </p:nvCxnSpPr>
        <p:spPr>
          <a:xfrm>
            <a:off x="10094976" y="3794760"/>
            <a:ext cx="182880" cy="1316736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4" name="Google Shape;454;p13"/>
          <p:cNvSpPr/>
          <p:nvPr/>
        </p:nvSpPr>
        <p:spPr>
          <a:xfrm>
            <a:off x="10277856" y="4654296"/>
            <a:ext cx="1225296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3"/>
          <p:cNvSpPr txBox="1"/>
          <p:nvPr/>
        </p:nvSpPr>
        <p:spPr>
          <a:xfrm>
            <a:off x="10369296" y="4718304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3"/>
          <p:cNvSpPr txBox="1"/>
          <p:nvPr/>
        </p:nvSpPr>
        <p:spPr>
          <a:xfrm>
            <a:off x="10332720" y="4901184"/>
            <a:ext cx="11155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모터 · LED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변화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3"/>
          <p:cNvSpPr txBox="1"/>
          <p:nvPr/>
        </p:nvSpPr>
        <p:spPr>
          <a:xfrm>
            <a:off x="548640" y="5925312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4번 read 단계에서 copy_to_user로 이벤트를 프로그램에 복사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4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04 — 커널 드라이버</a:t>
            </a:r>
            <a:endParaRPr sz="1000"/>
          </a:p>
        </p:txBody>
      </p:sp>
      <p:sp>
        <p:nvSpPr>
          <p:cNvPr id="464" name="Google Shape;464;p14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캐릭터 디바이스 등록</a:t>
            </a:r>
            <a:endParaRPr sz="3000"/>
          </a:p>
        </p:txBody>
      </p:sp>
      <p:sp>
        <p:nvSpPr>
          <p:cNvPr id="465" name="Google Shape;465;p14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드라이버를 /dev 아래 장치 파일로 보이게 만드는 과정</a:t>
            </a:r>
            <a:endParaRPr sz="1500"/>
          </a:p>
        </p:txBody>
      </p:sp>
      <p:sp>
        <p:nvSpPr>
          <p:cNvPr id="466" name="Google Shape;466;p14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커널 드라이버 구현</a:t>
            </a:r>
            <a:endParaRPr sz="1000"/>
          </a:p>
        </p:txBody>
      </p:sp>
      <p:sp>
        <p:nvSpPr>
          <p:cNvPr id="467" name="Google Shape;467;p14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14 / 26</a:t>
            </a:r>
            <a:endParaRPr sz="1000"/>
          </a:p>
        </p:txBody>
      </p:sp>
      <p:sp>
        <p:nvSpPr>
          <p:cNvPr id="468" name="Google Shape;468;p14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4"/>
          <p:cNvSpPr txBox="1"/>
          <p:nvPr/>
        </p:nvSpPr>
        <p:spPr>
          <a:xfrm>
            <a:off x="822960" y="202996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4"/>
          <p:cNvSpPr txBox="1"/>
          <p:nvPr/>
        </p:nvSpPr>
        <p:spPr>
          <a:xfrm>
            <a:off x="822960" y="2240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캐릭터 디바이스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4"/>
          <p:cNvSpPr txBox="1"/>
          <p:nvPr/>
        </p:nvSpPr>
        <p:spPr>
          <a:xfrm>
            <a:off x="3657600" y="1874520"/>
            <a:ext cx="7708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데이터를 바이트 단위로 차례대로 읽고 쓰는 장치. /dev 아래 파일로 나타남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548640" y="3200400"/>
            <a:ext cx="2464308" cy="219456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4"/>
          <p:cNvSpPr txBox="1"/>
          <p:nvPr/>
        </p:nvSpPr>
        <p:spPr>
          <a:xfrm>
            <a:off x="822960" y="3429000"/>
            <a:ext cx="19156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4"/>
          <p:cNvSpPr txBox="1"/>
          <p:nvPr/>
        </p:nvSpPr>
        <p:spPr>
          <a:xfrm>
            <a:off x="822960" y="3794760"/>
            <a:ext cx="19156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번호 받기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4"/>
          <p:cNvSpPr txBox="1"/>
          <p:nvPr/>
        </p:nvSpPr>
        <p:spPr>
          <a:xfrm>
            <a:off x="822960" y="4343400"/>
            <a:ext cx="19156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커널에서 major · minor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번호를 할당받음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6" name="Google Shape;476;p14"/>
          <p:cNvCxnSpPr/>
          <p:nvPr/>
        </p:nvCxnSpPr>
        <p:spPr>
          <a:xfrm>
            <a:off x="3076956" y="4297680"/>
            <a:ext cx="283464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7" name="Google Shape;477;p14"/>
          <p:cNvSpPr/>
          <p:nvPr/>
        </p:nvSpPr>
        <p:spPr>
          <a:xfrm>
            <a:off x="3424428" y="3200400"/>
            <a:ext cx="2464308" cy="219456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4"/>
          <p:cNvSpPr txBox="1"/>
          <p:nvPr/>
        </p:nvSpPr>
        <p:spPr>
          <a:xfrm>
            <a:off x="3698748" y="3429000"/>
            <a:ext cx="19156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4"/>
          <p:cNvSpPr txBox="1"/>
          <p:nvPr/>
        </p:nvSpPr>
        <p:spPr>
          <a:xfrm>
            <a:off x="3698748" y="3794760"/>
            <a:ext cx="19156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file_operations 연결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4"/>
          <p:cNvSpPr txBox="1"/>
          <p:nvPr/>
        </p:nvSpPr>
        <p:spPr>
          <a:xfrm>
            <a:off x="3698748" y="4343400"/>
            <a:ext cx="19156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read · write를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우리 함수로 연결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1" name="Google Shape;481;p14"/>
          <p:cNvCxnSpPr/>
          <p:nvPr/>
        </p:nvCxnSpPr>
        <p:spPr>
          <a:xfrm>
            <a:off x="5952744" y="4297680"/>
            <a:ext cx="283464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2" name="Google Shape;482;p14"/>
          <p:cNvSpPr/>
          <p:nvPr/>
        </p:nvSpPr>
        <p:spPr>
          <a:xfrm>
            <a:off x="6300216" y="3200400"/>
            <a:ext cx="2464308" cy="219456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4"/>
          <p:cNvSpPr txBox="1"/>
          <p:nvPr/>
        </p:nvSpPr>
        <p:spPr>
          <a:xfrm>
            <a:off x="6574536" y="3429000"/>
            <a:ext cx="19156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4"/>
          <p:cNvSpPr txBox="1"/>
          <p:nvPr/>
        </p:nvSpPr>
        <p:spPr>
          <a:xfrm>
            <a:off x="6574536" y="3794760"/>
            <a:ext cx="19156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클래스 등록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4"/>
          <p:cNvSpPr txBox="1"/>
          <p:nvPr/>
        </p:nvSpPr>
        <p:spPr>
          <a:xfrm>
            <a:off x="6574536" y="4343400"/>
            <a:ext cx="19156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sysfs에 ec11_class를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만들어 둠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6" name="Google Shape;486;p14"/>
          <p:cNvCxnSpPr/>
          <p:nvPr/>
        </p:nvCxnSpPr>
        <p:spPr>
          <a:xfrm>
            <a:off x="8828532" y="4297680"/>
            <a:ext cx="283464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7" name="Google Shape;487;p14"/>
          <p:cNvSpPr/>
          <p:nvPr/>
        </p:nvSpPr>
        <p:spPr>
          <a:xfrm>
            <a:off x="9176004" y="3200400"/>
            <a:ext cx="2464308" cy="2194560"/>
          </a:xfrm>
          <a:prstGeom prst="roundRect">
            <a:avLst>
              <a:gd fmla="val 3333" name="adj"/>
            </a:avLst>
          </a:prstGeom>
          <a:solidFill>
            <a:srgbClr val="F0EEE7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4"/>
          <p:cNvSpPr txBox="1"/>
          <p:nvPr/>
        </p:nvSpPr>
        <p:spPr>
          <a:xfrm>
            <a:off x="9450324" y="3429000"/>
            <a:ext cx="19156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4"/>
          <p:cNvSpPr txBox="1"/>
          <p:nvPr/>
        </p:nvSpPr>
        <p:spPr>
          <a:xfrm>
            <a:off x="9450324" y="3794760"/>
            <a:ext cx="19156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/dev/ec11 생성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4"/>
          <p:cNvSpPr txBox="1"/>
          <p:nvPr/>
        </p:nvSpPr>
        <p:spPr>
          <a:xfrm>
            <a:off x="9450324" y="4343400"/>
            <a:ext cx="19156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udev가 장치 파일을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자동으로 만듦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4"/>
          <p:cNvSpPr txBox="1"/>
          <p:nvPr/>
        </p:nvSpPr>
        <p:spPr>
          <a:xfrm>
            <a:off x="548640" y="566928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중간에 실패하면 받은 순서의 반대로 반납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5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04 — 커널 드라이버</a:t>
            </a:r>
            <a:endParaRPr sz="1000"/>
          </a:p>
        </p:txBody>
      </p:sp>
      <p:sp>
        <p:nvSpPr>
          <p:cNvPr id="498" name="Google Shape;498;p15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file_operations</a:t>
            </a:r>
            <a:endParaRPr sz="3000"/>
          </a:p>
        </p:txBody>
      </p:sp>
      <p:sp>
        <p:nvSpPr>
          <p:cNvPr id="499" name="Google Shape;499;p15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커널 드라이버 구현</a:t>
            </a:r>
            <a:endParaRPr sz="1000"/>
          </a:p>
        </p:txBody>
      </p:sp>
      <p:sp>
        <p:nvSpPr>
          <p:cNvPr id="500" name="Google Shape;500;p15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15 / 26</a:t>
            </a:r>
            <a:endParaRPr sz="1000"/>
          </a:p>
        </p:txBody>
      </p:sp>
      <p:sp>
        <p:nvSpPr>
          <p:cNvPr id="501" name="Google Shape;501;p15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5"/>
          <p:cNvSpPr txBox="1"/>
          <p:nvPr/>
        </p:nvSpPr>
        <p:spPr>
          <a:xfrm>
            <a:off x="822960" y="202996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5"/>
          <p:cNvSpPr txBox="1"/>
          <p:nvPr/>
        </p:nvSpPr>
        <p:spPr>
          <a:xfrm>
            <a:off x="822960" y="2240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file_operations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5"/>
          <p:cNvSpPr txBox="1"/>
          <p:nvPr/>
        </p:nvSpPr>
        <p:spPr>
          <a:xfrm>
            <a:off x="3657600" y="1874520"/>
            <a:ext cx="7708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장치 파일에 open · read · write 등이 호출될 때 실행할 드라이버 함수를 모아둔 구조체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5"/>
          <p:cNvSpPr/>
          <p:nvPr/>
        </p:nvSpPr>
        <p:spPr>
          <a:xfrm>
            <a:off x="548640" y="3063240"/>
            <a:ext cx="5120640" cy="315468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5"/>
          <p:cNvSpPr txBox="1"/>
          <p:nvPr/>
        </p:nvSpPr>
        <p:spPr>
          <a:xfrm>
            <a:off x="868680" y="329184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프로그램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5"/>
          <p:cNvSpPr txBox="1"/>
          <p:nvPr/>
        </p:nvSpPr>
        <p:spPr>
          <a:xfrm>
            <a:off x="3429000" y="329184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드라이버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5"/>
          <p:cNvSpPr/>
          <p:nvPr/>
        </p:nvSpPr>
        <p:spPr>
          <a:xfrm>
            <a:off x="868680" y="3611880"/>
            <a:ext cx="192024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5"/>
          <p:cNvSpPr txBox="1"/>
          <p:nvPr/>
        </p:nvSpPr>
        <p:spPr>
          <a:xfrm>
            <a:off x="868680" y="361188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open("/dev/ec11")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0" name="Google Shape;510;p15"/>
          <p:cNvCxnSpPr/>
          <p:nvPr/>
        </p:nvCxnSpPr>
        <p:spPr>
          <a:xfrm>
            <a:off x="2862072" y="3849624"/>
            <a:ext cx="493776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1" name="Google Shape;511;p15"/>
          <p:cNvSpPr/>
          <p:nvPr/>
        </p:nvSpPr>
        <p:spPr>
          <a:xfrm>
            <a:off x="3429000" y="3611880"/>
            <a:ext cx="1920240" cy="475488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5"/>
          <p:cNvSpPr txBox="1"/>
          <p:nvPr/>
        </p:nvSpPr>
        <p:spPr>
          <a:xfrm>
            <a:off x="3429000" y="361188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ec11_open()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5"/>
          <p:cNvSpPr/>
          <p:nvPr/>
        </p:nvSpPr>
        <p:spPr>
          <a:xfrm>
            <a:off x="868680" y="4343400"/>
            <a:ext cx="192024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5"/>
          <p:cNvSpPr txBox="1"/>
          <p:nvPr/>
        </p:nvSpPr>
        <p:spPr>
          <a:xfrm>
            <a:off x="868680" y="434340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read(fd, &amp;ev, 12)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5" name="Google Shape;515;p15"/>
          <p:cNvCxnSpPr/>
          <p:nvPr/>
        </p:nvCxnSpPr>
        <p:spPr>
          <a:xfrm>
            <a:off x="2862072" y="4581144"/>
            <a:ext cx="493776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6" name="Google Shape;516;p15"/>
          <p:cNvSpPr/>
          <p:nvPr/>
        </p:nvSpPr>
        <p:spPr>
          <a:xfrm>
            <a:off x="3429000" y="4343400"/>
            <a:ext cx="1920240" cy="475488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5"/>
          <p:cNvSpPr txBox="1"/>
          <p:nvPr/>
        </p:nvSpPr>
        <p:spPr>
          <a:xfrm>
            <a:off x="3429000" y="434340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ec11_read()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5"/>
          <p:cNvSpPr/>
          <p:nvPr/>
        </p:nvSpPr>
        <p:spPr>
          <a:xfrm>
            <a:off x="868680" y="5074920"/>
            <a:ext cx="192024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5"/>
          <p:cNvSpPr txBox="1"/>
          <p:nvPr/>
        </p:nvSpPr>
        <p:spPr>
          <a:xfrm>
            <a:off x="868680" y="507492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write(fd, "50", 2)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0" name="Google Shape;520;p15"/>
          <p:cNvCxnSpPr/>
          <p:nvPr/>
        </p:nvCxnSpPr>
        <p:spPr>
          <a:xfrm>
            <a:off x="2862072" y="5312664"/>
            <a:ext cx="493776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1" name="Google Shape;521;p15"/>
          <p:cNvSpPr/>
          <p:nvPr/>
        </p:nvSpPr>
        <p:spPr>
          <a:xfrm>
            <a:off x="3429000" y="5074920"/>
            <a:ext cx="1920240" cy="475488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5"/>
          <p:cNvSpPr txBox="1"/>
          <p:nvPr/>
        </p:nvSpPr>
        <p:spPr>
          <a:xfrm>
            <a:off x="3429000" y="507492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motor_write()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5"/>
          <p:cNvSpPr txBox="1"/>
          <p:nvPr/>
        </p:nvSpPr>
        <p:spPr>
          <a:xfrm>
            <a:off x="868680" y="580644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커널이 장치별 fops 표를 보고 알맞은 함수를 호출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5"/>
          <p:cNvSpPr/>
          <p:nvPr/>
        </p:nvSpPr>
        <p:spPr>
          <a:xfrm>
            <a:off x="6035040" y="3063240"/>
            <a:ext cx="5605272" cy="3154680"/>
          </a:xfrm>
          <a:prstGeom prst="roundRect">
            <a:avLst>
              <a:gd fmla="val 2319" name="adj"/>
            </a:avLst>
          </a:prstGeom>
          <a:solidFill>
            <a:srgbClr val="232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5"/>
          <p:cNvSpPr txBox="1"/>
          <p:nvPr/>
        </p:nvSpPr>
        <p:spPr>
          <a:xfrm>
            <a:off x="6309360" y="3063240"/>
            <a:ext cx="5056632" cy="315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/* ec11_driver.c — 엔코더: 읽기 */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static const struct file_operations ec11_fops = {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    .open  = ec11_open,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    .read  = ec11_read,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    .poll  = ec11_poll,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/* l298n_driver.c — 모터: 쓰기 */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static const struct file_operations motor_fops = {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    .read  = motor_read,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    .write = motor_write,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6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04 — 커널 드라이버</a:t>
            </a:r>
            <a:endParaRPr sz="1000"/>
          </a:p>
        </p:txBody>
      </p:sp>
      <p:sp>
        <p:nvSpPr>
          <p:cNvPr id="532" name="Google Shape;532;p16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read 함수와 copy_to_user</a:t>
            </a:r>
            <a:endParaRPr sz="3000"/>
          </a:p>
        </p:txBody>
      </p:sp>
      <p:sp>
        <p:nvSpPr>
          <p:cNvPr id="533" name="Google Shape;533;p16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드라이버가 엔코더 이벤트를 프로그램에 넘겨주는 과정</a:t>
            </a:r>
            <a:endParaRPr sz="1500"/>
          </a:p>
        </p:txBody>
      </p:sp>
      <p:sp>
        <p:nvSpPr>
          <p:cNvPr id="534" name="Google Shape;534;p16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커널 드라이버 구현</a:t>
            </a:r>
            <a:endParaRPr sz="1000"/>
          </a:p>
        </p:txBody>
      </p:sp>
      <p:sp>
        <p:nvSpPr>
          <p:cNvPr id="535" name="Google Shape;535;p16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16 / 26</a:t>
            </a:r>
            <a:endParaRPr sz="1000"/>
          </a:p>
        </p:txBody>
      </p:sp>
      <p:sp>
        <p:nvSpPr>
          <p:cNvPr id="536" name="Google Shape;536;p16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6"/>
          <p:cNvSpPr txBox="1"/>
          <p:nvPr/>
        </p:nvSpPr>
        <p:spPr>
          <a:xfrm>
            <a:off x="822960" y="202996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6"/>
          <p:cNvSpPr txBox="1"/>
          <p:nvPr/>
        </p:nvSpPr>
        <p:spPr>
          <a:xfrm>
            <a:off x="822960" y="2240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copy_to_user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6"/>
          <p:cNvSpPr txBox="1"/>
          <p:nvPr/>
        </p:nvSpPr>
        <p:spPr>
          <a:xfrm>
            <a:off x="3657600" y="1874520"/>
            <a:ext cx="7708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커널 메모리의 데이터를 유저 프로그램 메모리로 안전하게 복사하는 커널 함수, 복사하지 못한 바이트 수를 반환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6"/>
          <p:cNvSpPr/>
          <p:nvPr/>
        </p:nvSpPr>
        <p:spPr>
          <a:xfrm>
            <a:off x="548640" y="3063240"/>
            <a:ext cx="5120640" cy="315468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6"/>
          <p:cNvSpPr txBox="1"/>
          <p:nvPr/>
        </p:nvSpPr>
        <p:spPr>
          <a:xfrm>
            <a:off x="868680" y="3291840"/>
            <a:ext cx="4480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프로그램 — READ(FD, &amp;EV, 12)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6"/>
          <p:cNvSpPr/>
          <p:nvPr/>
        </p:nvSpPr>
        <p:spPr>
          <a:xfrm>
            <a:off x="868680" y="3547872"/>
            <a:ext cx="143256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6"/>
          <p:cNvSpPr txBox="1"/>
          <p:nvPr/>
        </p:nvSpPr>
        <p:spPr>
          <a:xfrm>
            <a:off x="868680" y="3547872"/>
            <a:ext cx="1432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delta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6"/>
          <p:cNvSpPr/>
          <p:nvPr/>
        </p:nvSpPr>
        <p:spPr>
          <a:xfrm>
            <a:off x="2392680" y="3547872"/>
            <a:ext cx="143256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6"/>
          <p:cNvSpPr txBox="1"/>
          <p:nvPr/>
        </p:nvSpPr>
        <p:spPr>
          <a:xfrm>
            <a:off x="2392680" y="3547872"/>
            <a:ext cx="1432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sw_state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6"/>
          <p:cNvSpPr/>
          <p:nvPr/>
        </p:nvSpPr>
        <p:spPr>
          <a:xfrm>
            <a:off x="3916680" y="3547872"/>
            <a:ext cx="143256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6"/>
          <p:cNvSpPr txBox="1"/>
          <p:nvPr/>
        </p:nvSpPr>
        <p:spPr>
          <a:xfrm>
            <a:off x="3916680" y="3547872"/>
            <a:ext cx="1432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8" name="Google Shape;548;p16"/>
          <p:cNvCxnSpPr/>
          <p:nvPr/>
        </p:nvCxnSpPr>
        <p:spPr>
          <a:xfrm>
            <a:off x="3108960" y="411480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41413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549" name="Google Shape;549;p16"/>
          <p:cNvSpPr txBox="1"/>
          <p:nvPr/>
        </p:nvSpPr>
        <p:spPr>
          <a:xfrm>
            <a:off x="3246120" y="411480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copy_to_user (12바이트)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6"/>
          <p:cNvSpPr txBox="1"/>
          <p:nvPr/>
        </p:nvSpPr>
        <p:spPr>
          <a:xfrm>
            <a:off x="868680" y="4572000"/>
            <a:ext cx="4480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드라이버 — 큐에서 꺼낸 이벤트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6"/>
          <p:cNvSpPr/>
          <p:nvPr/>
        </p:nvSpPr>
        <p:spPr>
          <a:xfrm>
            <a:off x="868680" y="4828032"/>
            <a:ext cx="1432560" cy="512064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6"/>
          <p:cNvSpPr txBox="1"/>
          <p:nvPr/>
        </p:nvSpPr>
        <p:spPr>
          <a:xfrm>
            <a:off x="868680" y="4828032"/>
            <a:ext cx="1432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delta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6"/>
          <p:cNvSpPr/>
          <p:nvPr/>
        </p:nvSpPr>
        <p:spPr>
          <a:xfrm>
            <a:off x="2392680" y="4828032"/>
            <a:ext cx="1432560" cy="512064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6"/>
          <p:cNvSpPr txBox="1"/>
          <p:nvPr/>
        </p:nvSpPr>
        <p:spPr>
          <a:xfrm>
            <a:off x="2392680" y="4828032"/>
            <a:ext cx="1432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sw_state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6"/>
          <p:cNvSpPr/>
          <p:nvPr/>
        </p:nvSpPr>
        <p:spPr>
          <a:xfrm>
            <a:off x="3916680" y="4828032"/>
            <a:ext cx="1432560" cy="512064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6"/>
          <p:cNvSpPr txBox="1"/>
          <p:nvPr/>
        </p:nvSpPr>
        <p:spPr>
          <a:xfrm>
            <a:off x="3916680" y="4828032"/>
            <a:ext cx="1432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6"/>
          <p:cNvSpPr txBox="1"/>
          <p:nvPr/>
        </p:nvSpPr>
        <p:spPr>
          <a:xfrm>
            <a:off x="868680" y="546811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반환값 0 = 성공 · 0이 아니면 -EFAULT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6"/>
          <p:cNvSpPr/>
          <p:nvPr/>
        </p:nvSpPr>
        <p:spPr>
          <a:xfrm>
            <a:off x="6035040" y="3063240"/>
            <a:ext cx="5605272" cy="3154680"/>
          </a:xfrm>
          <a:prstGeom prst="roundRect">
            <a:avLst>
              <a:gd fmla="val 2319" name="adj"/>
            </a:avLst>
          </a:prstGeom>
          <a:solidFill>
            <a:srgbClr val="232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6"/>
          <p:cNvSpPr txBox="1"/>
          <p:nvPr/>
        </p:nvSpPr>
        <p:spPr>
          <a:xfrm>
            <a:off x="6309360" y="3063240"/>
            <a:ext cx="5056632" cy="315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/* ec11_driver.c */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static ssize_t ec11_read(struct file *file,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        char __user *buf, size_t count, loff_t *ppos)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    struct ec11_event ev;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    /* 이벤트가 생길 때까지 대기 */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    wait_event_interruptible(ec11_waitq,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                             dequeue_event(&amp;ev) == 0);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    if (copy_to_user(buf, &amp;ev, sizeof(struct ec11_event)))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        return -EFAULT;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    return sizeof(struct ec11_event);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7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04 — 커널 드라이버</a:t>
            </a:r>
            <a:endParaRPr sz="1000"/>
          </a:p>
        </p:txBody>
      </p:sp>
      <p:sp>
        <p:nvSpPr>
          <p:cNvPr id="566" name="Google Shape;566;p17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write 함수와 copy_from_user</a:t>
            </a:r>
            <a:endParaRPr sz="3000"/>
          </a:p>
        </p:txBody>
      </p:sp>
      <p:sp>
        <p:nvSpPr>
          <p:cNvPr id="567" name="Google Shape;567;p17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프로그램이 보낸 명령 문자열을 드라이버가 받아 모터에 적용</a:t>
            </a:r>
            <a:endParaRPr sz="1500"/>
          </a:p>
        </p:txBody>
      </p:sp>
      <p:sp>
        <p:nvSpPr>
          <p:cNvPr id="568" name="Google Shape;568;p17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커널 드라이버 구현</a:t>
            </a:r>
            <a:endParaRPr sz="1000"/>
          </a:p>
        </p:txBody>
      </p:sp>
      <p:sp>
        <p:nvSpPr>
          <p:cNvPr id="569" name="Google Shape;569;p17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17 / 26</a:t>
            </a:r>
            <a:endParaRPr sz="1000"/>
          </a:p>
        </p:txBody>
      </p:sp>
      <p:sp>
        <p:nvSpPr>
          <p:cNvPr id="570" name="Google Shape;570;p17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7"/>
          <p:cNvSpPr txBox="1"/>
          <p:nvPr/>
        </p:nvSpPr>
        <p:spPr>
          <a:xfrm>
            <a:off x="822960" y="202996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7"/>
          <p:cNvSpPr txBox="1"/>
          <p:nvPr/>
        </p:nvSpPr>
        <p:spPr>
          <a:xfrm>
            <a:off x="822960" y="2240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copy_from_user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7"/>
          <p:cNvSpPr txBox="1"/>
          <p:nvPr/>
        </p:nvSpPr>
        <p:spPr>
          <a:xfrm>
            <a:off x="3657600" y="1874520"/>
            <a:ext cx="7708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유저 프로그램 메모리의 데이터를 커널 메모리로 안전하게 복사하는 커널 함수. 복사하지 못한 바이트 수를 반환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7"/>
          <p:cNvSpPr/>
          <p:nvPr/>
        </p:nvSpPr>
        <p:spPr>
          <a:xfrm>
            <a:off x="548640" y="3063240"/>
            <a:ext cx="5120640" cy="315468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7"/>
          <p:cNvSpPr txBox="1"/>
          <p:nvPr/>
        </p:nvSpPr>
        <p:spPr>
          <a:xfrm>
            <a:off x="868680" y="3291840"/>
            <a:ext cx="4480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프로그램 — ECHO 50 &gt; /DEV/L298N_MOTOR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7"/>
          <p:cNvSpPr/>
          <p:nvPr/>
        </p:nvSpPr>
        <p:spPr>
          <a:xfrm>
            <a:off x="868680" y="3547872"/>
            <a:ext cx="143256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7"/>
          <p:cNvSpPr txBox="1"/>
          <p:nvPr/>
        </p:nvSpPr>
        <p:spPr>
          <a:xfrm>
            <a:off x="868680" y="3547872"/>
            <a:ext cx="1432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'5'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7"/>
          <p:cNvSpPr/>
          <p:nvPr/>
        </p:nvSpPr>
        <p:spPr>
          <a:xfrm>
            <a:off x="2392680" y="3547872"/>
            <a:ext cx="143256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7"/>
          <p:cNvSpPr txBox="1"/>
          <p:nvPr/>
        </p:nvSpPr>
        <p:spPr>
          <a:xfrm>
            <a:off x="2392680" y="3547872"/>
            <a:ext cx="1432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'0'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7"/>
          <p:cNvSpPr/>
          <p:nvPr/>
        </p:nvSpPr>
        <p:spPr>
          <a:xfrm>
            <a:off x="3916680" y="3547872"/>
            <a:ext cx="143256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7"/>
          <p:cNvSpPr txBox="1"/>
          <p:nvPr/>
        </p:nvSpPr>
        <p:spPr>
          <a:xfrm>
            <a:off x="3916680" y="3547872"/>
            <a:ext cx="1432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'\n'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2" name="Google Shape;582;p17"/>
          <p:cNvCxnSpPr/>
          <p:nvPr/>
        </p:nvCxnSpPr>
        <p:spPr>
          <a:xfrm>
            <a:off x="3108960" y="402336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3" name="Google Shape;583;p17"/>
          <p:cNvSpPr txBox="1"/>
          <p:nvPr/>
        </p:nvSpPr>
        <p:spPr>
          <a:xfrm>
            <a:off x="3246120" y="40233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copy_from_user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7"/>
          <p:cNvSpPr txBox="1"/>
          <p:nvPr/>
        </p:nvSpPr>
        <p:spPr>
          <a:xfrm>
            <a:off x="868680" y="4453128"/>
            <a:ext cx="4480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드라이버 — KBUF[64]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7"/>
          <p:cNvSpPr/>
          <p:nvPr/>
        </p:nvSpPr>
        <p:spPr>
          <a:xfrm>
            <a:off x="868680" y="4709160"/>
            <a:ext cx="1432560" cy="411480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7"/>
          <p:cNvSpPr txBox="1"/>
          <p:nvPr/>
        </p:nvSpPr>
        <p:spPr>
          <a:xfrm>
            <a:off x="868680" y="4709160"/>
            <a:ext cx="1432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'5'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7"/>
          <p:cNvSpPr/>
          <p:nvPr/>
        </p:nvSpPr>
        <p:spPr>
          <a:xfrm>
            <a:off x="2392680" y="4709160"/>
            <a:ext cx="1432560" cy="411480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7"/>
          <p:cNvSpPr txBox="1"/>
          <p:nvPr/>
        </p:nvSpPr>
        <p:spPr>
          <a:xfrm>
            <a:off x="2392680" y="4709160"/>
            <a:ext cx="1432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'0'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7"/>
          <p:cNvSpPr/>
          <p:nvPr/>
        </p:nvSpPr>
        <p:spPr>
          <a:xfrm>
            <a:off x="3916680" y="4709160"/>
            <a:ext cx="1432560" cy="411480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7"/>
          <p:cNvSpPr txBox="1"/>
          <p:nvPr/>
        </p:nvSpPr>
        <p:spPr>
          <a:xfrm>
            <a:off x="3916680" y="4709160"/>
            <a:ext cx="1432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'\n'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1" name="Google Shape;591;p17"/>
          <p:cNvCxnSpPr/>
          <p:nvPr/>
        </p:nvCxnSpPr>
        <p:spPr>
          <a:xfrm>
            <a:off x="3108960" y="5166360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2" name="Google Shape;592;p17"/>
          <p:cNvSpPr/>
          <p:nvPr/>
        </p:nvSpPr>
        <p:spPr>
          <a:xfrm>
            <a:off x="868680" y="5486400"/>
            <a:ext cx="448056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7"/>
          <p:cNvSpPr txBox="1"/>
          <p:nvPr/>
        </p:nvSpPr>
        <p:spPr>
          <a:xfrm>
            <a:off x="868680" y="548640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sscanf → speed_percent = 50 → PWM 50%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7"/>
          <p:cNvSpPr/>
          <p:nvPr/>
        </p:nvSpPr>
        <p:spPr>
          <a:xfrm>
            <a:off x="6035040" y="3063240"/>
            <a:ext cx="5605272" cy="3154680"/>
          </a:xfrm>
          <a:prstGeom prst="roundRect">
            <a:avLst>
              <a:gd fmla="val 2319" name="adj"/>
            </a:avLst>
          </a:prstGeom>
          <a:solidFill>
            <a:srgbClr val="232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7"/>
          <p:cNvSpPr txBox="1"/>
          <p:nvPr/>
        </p:nvSpPr>
        <p:spPr>
          <a:xfrm>
            <a:off x="6309360" y="3063240"/>
            <a:ext cx="5056632" cy="315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/* l298n_driver.c — motor_write() (요약) */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char kbuf[64];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copy_len = min(count, sizeof(kbuf) - 1);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if (copy_from_user(kbuf, buf, copy_len))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    return -EFAULT;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kbuf[copy_len] = '\0';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if (strncmp(kbuf, "forward", 7) == 0)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    current_status.dir = MOTOR_DIR_FORWARD;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else if (sscanf(kbuf, "%d", &amp;val) == 1)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    current_status.speed_percent = val;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8E6D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8E6DF"/>
                </a:solidFill>
                <a:latin typeface="Arial"/>
                <a:ea typeface="Arial"/>
                <a:cs typeface="Arial"/>
                <a:sym typeface="Arial"/>
              </a:rPr>
              <a:t>motor_update_hardware();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8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04 — 커널 드라이버</a:t>
            </a:r>
            <a:endParaRPr sz="1000"/>
          </a:p>
        </p:txBody>
      </p:sp>
      <p:sp>
        <p:nvSpPr>
          <p:cNvPr id="602" name="Google Shape;602;p18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인터럽트 핸들러로 엔코더 읽기</a:t>
            </a:r>
            <a:endParaRPr sz="3000"/>
          </a:p>
        </p:txBody>
      </p:sp>
      <p:sp>
        <p:nvSpPr>
          <p:cNvPr id="603" name="Google Shape;603;p18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신호가 바뀔 때마다 커널 안에서 바로 방향을 계산</a:t>
            </a:r>
            <a:endParaRPr sz="1500"/>
          </a:p>
        </p:txBody>
      </p:sp>
      <p:sp>
        <p:nvSpPr>
          <p:cNvPr id="604" name="Google Shape;604;p18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커널 드라이버 구현</a:t>
            </a:r>
            <a:endParaRPr sz="1000"/>
          </a:p>
        </p:txBody>
      </p:sp>
      <p:sp>
        <p:nvSpPr>
          <p:cNvPr id="605" name="Google Shape;605;p18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18 / 26</a:t>
            </a:r>
            <a:endParaRPr sz="1000"/>
          </a:p>
        </p:txBody>
      </p:sp>
      <p:sp>
        <p:nvSpPr>
          <p:cNvPr id="606" name="Google Shape;606;p18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8"/>
          <p:cNvSpPr txBox="1"/>
          <p:nvPr/>
        </p:nvSpPr>
        <p:spPr>
          <a:xfrm>
            <a:off x="822960" y="202996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8"/>
          <p:cNvSpPr txBox="1"/>
          <p:nvPr/>
        </p:nvSpPr>
        <p:spPr>
          <a:xfrm>
            <a:off x="822960" y="2240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인터럽트 핸들러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8"/>
          <p:cNvSpPr txBox="1"/>
          <p:nvPr/>
        </p:nvSpPr>
        <p:spPr>
          <a:xfrm>
            <a:off x="3657600" y="1874520"/>
            <a:ext cx="7708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인터럽트가 발생했을 때 커널이 실행하는 함수. 짧게 끝나야 하고, 잠들면 안 됨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0" name="Google Shape;610;p18"/>
          <p:cNvCxnSpPr/>
          <p:nvPr/>
        </p:nvCxnSpPr>
        <p:spPr>
          <a:xfrm>
            <a:off x="548640" y="3108960"/>
            <a:ext cx="4480560" cy="0"/>
          </a:xfrm>
          <a:prstGeom prst="straightConnector1">
            <a:avLst/>
          </a:prstGeom>
          <a:noFill/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1" name="Google Shape;611;p18"/>
          <p:cNvSpPr txBox="1"/>
          <p:nvPr/>
        </p:nvSpPr>
        <p:spPr>
          <a:xfrm>
            <a:off x="548640" y="3218688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언제 실행되나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8"/>
          <p:cNvSpPr txBox="1"/>
          <p:nvPr/>
        </p:nvSpPr>
        <p:spPr>
          <a:xfrm>
            <a:off x="548640" y="354787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A · B 핀이 바뀌는 순간마다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(상승 · 하강 모두)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3" name="Google Shape;613;p18"/>
          <p:cNvCxnSpPr/>
          <p:nvPr/>
        </p:nvCxnSpPr>
        <p:spPr>
          <a:xfrm>
            <a:off x="548640" y="4160520"/>
            <a:ext cx="4480560" cy="0"/>
          </a:xfrm>
          <a:prstGeom prst="straightConnector1">
            <a:avLst/>
          </a:prstGeom>
          <a:noFill/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4" name="Google Shape;614;p18"/>
          <p:cNvSpPr txBox="1"/>
          <p:nvPr/>
        </p:nvSpPr>
        <p:spPr>
          <a:xfrm>
            <a:off x="548640" y="4270248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무엇을 하나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8"/>
          <p:cNvSpPr txBox="1"/>
          <p:nvPr/>
        </p:nvSpPr>
        <p:spPr>
          <a:xfrm>
            <a:off x="548640" y="459943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두 핀을 읽어 방향을 계산하고,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한 칸이 끝나면 이벤트를 큐에 넣고 프로그램을 깨움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6" name="Google Shape;616;p18"/>
          <p:cNvCxnSpPr/>
          <p:nvPr/>
        </p:nvCxnSpPr>
        <p:spPr>
          <a:xfrm>
            <a:off x="548640" y="5212080"/>
            <a:ext cx="4480560" cy="0"/>
          </a:xfrm>
          <a:prstGeom prst="straightConnector1">
            <a:avLst/>
          </a:prstGeom>
          <a:noFill/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7" name="Google Shape;617;p18"/>
          <p:cNvSpPr txBox="1"/>
          <p:nvPr/>
        </p:nvSpPr>
        <p:spPr>
          <a:xfrm>
            <a:off x="548640" y="5321808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지켜야 할 것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8"/>
          <p:cNvSpPr txBox="1"/>
          <p:nvPr/>
        </p:nvSpPr>
        <p:spPr>
          <a:xfrm>
            <a:off x="548640" y="565099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잠들 수 없으므로 짧게 끝내고,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공유 데이터는 spinlock으로 보호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8"/>
          <p:cNvSpPr/>
          <p:nvPr/>
        </p:nvSpPr>
        <p:spPr>
          <a:xfrm>
            <a:off x="5394960" y="3063240"/>
            <a:ext cx="6245352" cy="315468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8"/>
          <p:cNvSpPr txBox="1"/>
          <p:nvPr/>
        </p:nvSpPr>
        <p:spPr>
          <a:xfrm>
            <a:off x="5806440" y="338328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8"/>
          <p:cNvSpPr txBox="1"/>
          <p:nvPr/>
        </p:nvSpPr>
        <p:spPr>
          <a:xfrm>
            <a:off x="5806440" y="41605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2" name="Google Shape;622;p18"/>
          <p:cNvCxnSpPr/>
          <p:nvPr/>
        </p:nvCxnSpPr>
        <p:spPr>
          <a:xfrm>
            <a:off x="6263640" y="3383280"/>
            <a:ext cx="744779" cy="0"/>
          </a:xfrm>
          <a:prstGeom prst="straightConnector1">
            <a:avLst/>
          </a:prstGeom>
          <a:noFill/>
          <a:ln cap="flat" cmpd="sng" w="222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p18"/>
          <p:cNvCxnSpPr/>
          <p:nvPr/>
        </p:nvCxnSpPr>
        <p:spPr>
          <a:xfrm>
            <a:off x="7008419" y="3383280"/>
            <a:ext cx="0" cy="457200"/>
          </a:xfrm>
          <a:prstGeom prst="straightConnector1">
            <a:avLst/>
          </a:prstGeom>
          <a:noFill/>
          <a:ln cap="flat" cmpd="sng" w="222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18"/>
          <p:cNvCxnSpPr/>
          <p:nvPr/>
        </p:nvCxnSpPr>
        <p:spPr>
          <a:xfrm>
            <a:off x="7008419" y="3840480"/>
            <a:ext cx="1986077" cy="0"/>
          </a:xfrm>
          <a:prstGeom prst="straightConnector1">
            <a:avLst/>
          </a:prstGeom>
          <a:noFill/>
          <a:ln cap="flat" cmpd="sng" w="222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p18"/>
          <p:cNvCxnSpPr/>
          <p:nvPr/>
        </p:nvCxnSpPr>
        <p:spPr>
          <a:xfrm>
            <a:off x="8994496" y="3383280"/>
            <a:ext cx="0" cy="457200"/>
          </a:xfrm>
          <a:prstGeom prst="straightConnector1">
            <a:avLst/>
          </a:prstGeom>
          <a:noFill/>
          <a:ln cap="flat" cmpd="sng" w="222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p18"/>
          <p:cNvCxnSpPr/>
          <p:nvPr/>
        </p:nvCxnSpPr>
        <p:spPr>
          <a:xfrm>
            <a:off x="8994496" y="3383280"/>
            <a:ext cx="2234336" cy="0"/>
          </a:xfrm>
          <a:prstGeom prst="straightConnector1">
            <a:avLst/>
          </a:prstGeom>
          <a:noFill/>
          <a:ln cap="flat" cmpd="sng" w="222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18"/>
          <p:cNvCxnSpPr/>
          <p:nvPr/>
        </p:nvCxnSpPr>
        <p:spPr>
          <a:xfrm>
            <a:off x="6263640" y="4160520"/>
            <a:ext cx="1737817" cy="0"/>
          </a:xfrm>
          <a:prstGeom prst="straightConnector1">
            <a:avLst/>
          </a:prstGeom>
          <a:noFill/>
          <a:ln cap="flat" cmpd="sng" w="222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p18"/>
          <p:cNvCxnSpPr/>
          <p:nvPr/>
        </p:nvCxnSpPr>
        <p:spPr>
          <a:xfrm>
            <a:off x="8001457" y="4160520"/>
            <a:ext cx="0" cy="457200"/>
          </a:xfrm>
          <a:prstGeom prst="straightConnector1">
            <a:avLst/>
          </a:prstGeom>
          <a:noFill/>
          <a:ln cap="flat" cmpd="sng" w="222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9" name="Google Shape;629;p18"/>
          <p:cNvCxnSpPr/>
          <p:nvPr/>
        </p:nvCxnSpPr>
        <p:spPr>
          <a:xfrm>
            <a:off x="8001457" y="4617720"/>
            <a:ext cx="1986077" cy="0"/>
          </a:xfrm>
          <a:prstGeom prst="straightConnector1">
            <a:avLst/>
          </a:prstGeom>
          <a:noFill/>
          <a:ln cap="flat" cmpd="sng" w="222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0" name="Google Shape;630;p18"/>
          <p:cNvCxnSpPr/>
          <p:nvPr/>
        </p:nvCxnSpPr>
        <p:spPr>
          <a:xfrm>
            <a:off x="9987534" y="4160520"/>
            <a:ext cx="0" cy="457200"/>
          </a:xfrm>
          <a:prstGeom prst="straightConnector1">
            <a:avLst/>
          </a:prstGeom>
          <a:noFill/>
          <a:ln cap="flat" cmpd="sng" w="222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1" name="Google Shape;631;p18"/>
          <p:cNvCxnSpPr/>
          <p:nvPr/>
        </p:nvCxnSpPr>
        <p:spPr>
          <a:xfrm>
            <a:off x="9987534" y="4160520"/>
            <a:ext cx="1241298" cy="0"/>
          </a:xfrm>
          <a:prstGeom prst="straightConnector1">
            <a:avLst/>
          </a:prstGeom>
          <a:noFill/>
          <a:ln cap="flat" cmpd="sng" w="222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2" name="Google Shape;632;p18"/>
          <p:cNvCxnSpPr/>
          <p:nvPr/>
        </p:nvCxnSpPr>
        <p:spPr>
          <a:xfrm>
            <a:off x="7008419" y="470916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70706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33" name="Google Shape;633;p18"/>
          <p:cNvSpPr/>
          <p:nvPr/>
        </p:nvSpPr>
        <p:spPr>
          <a:xfrm>
            <a:off x="6935267" y="4983480"/>
            <a:ext cx="146304" cy="146304"/>
          </a:xfrm>
          <a:prstGeom prst="ellipse">
            <a:avLst/>
          </a:prstGeom>
          <a:solidFill>
            <a:srgbClr val="1414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4" name="Google Shape;634;p18"/>
          <p:cNvCxnSpPr/>
          <p:nvPr/>
        </p:nvCxnSpPr>
        <p:spPr>
          <a:xfrm>
            <a:off x="8994496" y="470916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70706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35" name="Google Shape;635;p18"/>
          <p:cNvSpPr/>
          <p:nvPr/>
        </p:nvSpPr>
        <p:spPr>
          <a:xfrm>
            <a:off x="8921344" y="4983480"/>
            <a:ext cx="146304" cy="146304"/>
          </a:xfrm>
          <a:prstGeom prst="ellipse">
            <a:avLst/>
          </a:prstGeom>
          <a:solidFill>
            <a:srgbClr val="1414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6" name="Google Shape;636;p18"/>
          <p:cNvCxnSpPr/>
          <p:nvPr/>
        </p:nvCxnSpPr>
        <p:spPr>
          <a:xfrm>
            <a:off x="8001457" y="470916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70706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37" name="Google Shape;637;p18"/>
          <p:cNvSpPr/>
          <p:nvPr/>
        </p:nvSpPr>
        <p:spPr>
          <a:xfrm>
            <a:off x="7928305" y="4983480"/>
            <a:ext cx="146304" cy="146304"/>
          </a:xfrm>
          <a:prstGeom prst="ellipse">
            <a:avLst/>
          </a:prstGeom>
          <a:solidFill>
            <a:srgbClr val="1414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8" name="Google Shape;638;p18"/>
          <p:cNvCxnSpPr/>
          <p:nvPr/>
        </p:nvCxnSpPr>
        <p:spPr>
          <a:xfrm>
            <a:off x="9987534" y="470916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70706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39" name="Google Shape;639;p18"/>
          <p:cNvSpPr/>
          <p:nvPr/>
        </p:nvSpPr>
        <p:spPr>
          <a:xfrm>
            <a:off x="9914382" y="4983480"/>
            <a:ext cx="146304" cy="146304"/>
          </a:xfrm>
          <a:prstGeom prst="ellipse">
            <a:avLst/>
          </a:prstGeom>
          <a:solidFill>
            <a:srgbClr val="1414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8"/>
          <p:cNvSpPr txBox="1"/>
          <p:nvPr/>
        </p:nvSpPr>
        <p:spPr>
          <a:xfrm>
            <a:off x="6263640" y="52120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● 핸들러 실행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8"/>
          <p:cNvSpPr/>
          <p:nvPr/>
        </p:nvSpPr>
        <p:spPr>
          <a:xfrm>
            <a:off x="5806440" y="5440680"/>
            <a:ext cx="5422392" cy="457200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8"/>
          <p:cNvSpPr txBox="1"/>
          <p:nvPr/>
        </p:nvSpPr>
        <p:spPr>
          <a:xfrm>
            <a:off x="5806440" y="5440680"/>
            <a:ext cx="5422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한 클릭 = 엣지 4번 → 이벤트 1개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9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04 — 커널 드라이버</a:t>
            </a:r>
            <a:endParaRPr sz="1000"/>
          </a:p>
        </p:txBody>
      </p:sp>
      <p:sp>
        <p:nvSpPr>
          <p:cNvPr id="649" name="Google Shape;649;p19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커널 PWM API로 모터 제어</a:t>
            </a:r>
            <a:endParaRPr sz="3000"/>
          </a:p>
        </p:txBody>
      </p:sp>
      <p:sp>
        <p:nvSpPr>
          <p:cNvPr id="650" name="Google Shape;650;p19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방향은 GPIO 두 개, 속도는 PWM 듀티비</a:t>
            </a:r>
            <a:endParaRPr sz="1500"/>
          </a:p>
        </p:txBody>
      </p:sp>
      <p:sp>
        <p:nvSpPr>
          <p:cNvPr id="651" name="Google Shape;651;p19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커널 드라이버 구현</a:t>
            </a:r>
            <a:endParaRPr sz="1000"/>
          </a:p>
        </p:txBody>
      </p:sp>
      <p:sp>
        <p:nvSpPr>
          <p:cNvPr id="652" name="Google Shape;652;p19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19 / 26</a:t>
            </a:r>
            <a:endParaRPr sz="1000"/>
          </a:p>
        </p:txBody>
      </p:sp>
      <p:sp>
        <p:nvSpPr>
          <p:cNvPr id="653" name="Google Shape;653;p19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9"/>
          <p:cNvSpPr txBox="1"/>
          <p:nvPr/>
        </p:nvSpPr>
        <p:spPr>
          <a:xfrm>
            <a:off x="822960" y="202996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9"/>
          <p:cNvSpPr txBox="1"/>
          <p:nvPr/>
        </p:nvSpPr>
        <p:spPr>
          <a:xfrm>
            <a:off x="822960" y="2240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커널 PWM API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9"/>
          <p:cNvSpPr txBox="1"/>
          <p:nvPr/>
        </p:nvSpPr>
        <p:spPr>
          <a:xfrm>
            <a:off x="3657600" y="1874520"/>
            <a:ext cx="7708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드라이버 안에서 PWM 장치를 받아 주기와 듀티를 설정하는 커널 기능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9"/>
          <p:cNvSpPr txBox="1"/>
          <p:nvPr/>
        </p:nvSpPr>
        <p:spPr>
          <a:xfrm>
            <a:off x="548640" y="306324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방향 — IN1 · IN2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9"/>
          <p:cNvSpPr/>
          <p:nvPr/>
        </p:nvSpPr>
        <p:spPr>
          <a:xfrm>
            <a:off x="548640" y="3337560"/>
            <a:ext cx="2635758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9"/>
          <p:cNvSpPr txBox="1"/>
          <p:nvPr/>
        </p:nvSpPr>
        <p:spPr>
          <a:xfrm>
            <a:off x="822960" y="3337560"/>
            <a:ext cx="13178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정지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9"/>
          <p:cNvSpPr txBox="1"/>
          <p:nvPr/>
        </p:nvSpPr>
        <p:spPr>
          <a:xfrm>
            <a:off x="1866519" y="3337560"/>
            <a:ext cx="104355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0 · 0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9"/>
          <p:cNvSpPr/>
          <p:nvPr/>
        </p:nvSpPr>
        <p:spPr>
          <a:xfrm>
            <a:off x="3367278" y="3337560"/>
            <a:ext cx="2635758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9"/>
          <p:cNvSpPr txBox="1"/>
          <p:nvPr/>
        </p:nvSpPr>
        <p:spPr>
          <a:xfrm>
            <a:off x="3641598" y="3337560"/>
            <a:ext cx="13178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정회전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9"/>
          <p:cNvSpPr txBox="1"/>
          <p:nvPr/>
        </p:nvSpPr>
        <p:spPr>
          <a:xfrm>
            <a:off x="4685157" y="3337560"/>
            <a:ext cx="104355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1 · 0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9"/>
          <p:cNvSpPr/>
          <p:nvPr/>
        </p:nvSpPr>
        <p:spPr>
          <a:xfrm>
            <a:off x="6185916" y="3337560"/>
            <a:ext cx="2635758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9"/>
          <p:cNvSpPr txBox="1"/>
          <p:nvPr/>
        </p:nvSpPr>
        <p:spPr>
          <a:xfrm>
            <a:off x="6460236" y="3337560"/>
            <a:ext cx="13178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역회전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9"/>
          <p:cNvSpPr txBox="1"/>
          <p:nvPr/>
        </p:nvSpPr>
        <p:spPr>
          <a:xfrm>
            <a:off x="7503795" y="3337560"/>
            <a:ext cx="104355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0 · 1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9"/>
          <p:cNvSpPr/>
          <p:nvPr/>
        </p:nvSpPr>
        <p:spPr>
          <a:xfrm>
            <a:off x="9004554" y="3337560"/>
            <a:ext cx="2635758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9"/>
          <p:cNvSpPr txBox="1"/>
          <p:nvPr/>
        </p:nvSpPr>
        <p:spPr>
          <a:xfrm>
            <a:off x="9278874" y="3337560"/>
            <a:ext cx="13178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제동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9"/>
          <p:cNvSpPr txBox="1"/>
          <p:nvPr/>
        </p:nvSpPr>
        <p:spPr>
          <a:xfrm>
            <a:off x="10322433" y="3337560"/>
            <a:ext cx="104355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1 · 1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9"/>
          <p:cNvSpPr txBox="1"/>
          <p:nvPr/>
        </p:nvSpPr>
        <p:spPr>
          <a:xfrm>
            <a:off x="548640" y="457200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속도 — 단계를 듀티로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9"/>
          <p:cNvSpPr/>
          <p:nvPr/>
        </p:nvSpPr>
        <p:spPr>
          <a:xfrm>
            <a:off x="548640" y="4846320"/>
            <a:ext cx="3514344" cy="1371600"/>
          </a:xfrm>
          <a:prstGeom prst="roundRect">
            <a:avLst>
              <a:gd fmla="val 5333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9"/>
          <p:cNvSpPr txBox="1"/>
          <p:nvPr/>
        </p:nvSpPr>
        <p:spPr>
          <a:xfrm>
            <a:off x="822960" y="4937760"/>
            <a:ext cx="29657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단계 1  ·  25%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3" name="Google Shape;673;p19"/>
          <p:cNvCxnSpPr/>
          <p:nvPr/>
        </p:nvCxnSpPr>
        <p:spPr>
          <a:xfrm>
            <a:off x="822960" y="539496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4" name="Google Shape;674;p19"/>
          <p:cNvCxnSpPr/>
          <p:nvPr/>
        </p:nvCxnSpPr>
        <p:spPr>
          <a:xfrm>
            <a:off x="822960" y="5394960"/>
            <a:ext cx="247142" cy="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5" name="Google Shape;675;p19"/>
          <p:cNvCxnSpPr/>
          <p:nvPr/>
        </p:nvCxnSpPr>
        <p:spPr>
          <a:xfrm>
            <a:off x="1070102" y="539496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6" name="Google Shape;676;p19"/>
          <p:cNvCxnSpPr/>
          <p:nvPr/>
        </p:nvCxnSpPr>
        <p:spPr>
          <a:xfrm>
            <a:off x="1070102" y="5852160"/>
            <a:ext cx="741426" cy="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7" name="Google Shape;677;p19"/>
          <p:cNvCxnSpPr/>
          <p:nvPr/>
        </p:nvCxnSpPr>
        <p:spPr>
          <a:xfrm>
            <a:off x="1811528" y="539496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8" name="Google Shape;678;p19"/>
          <p:cNvCxnSpPr/>
          <p:nvPr/>
        </p:nvCxnSpPr>
        <p:spPr>
          <a:xfrm>
            <a:off x="1811528" y="5394960"/>
            <a:ext cx="247142" cy="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9" name="Google Shape;679;p19"/>
          <p:cNvCxnSpPr/>
          <p:nvPr/>
        </p:nvCxnSpPr>
        <p:spPr>
          <a:xfrm>
            <a:off x="2058670" y="539496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0" name="Google Shape;680;p19"/>
          <p:cNvCxnSpPr/>
          <p:nvPr/>
        </p:nvCxnSpPr>
        <p:spPr>
          <a:xfrm>
            <a:off x="2058670" y="5852160"/>
            <a:ext cx="741426" cy="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1" name="Google Shape;681;p19"/>
          <p:cNvCxnSpPr/>
          <p:nvPr/>
        </p:nvCxnSpPr>
        <p:spPr>
          <a:xfrm>
            <a:off x="2800096" y="539496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2" name="Google Shape;682;p19"/>
          <p:cNvCxnSpPr/>
          <p:nvPr/>
        </p:nvCxnSpPr>
        <p:spPr>
          <a:xfrm>
            <a:off x="2800096" y="5394960"/>
            <a:ext cx="247142" cy="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3" name="Google Shape;683;p19"/>
          <p:cNvCxnSpPr/>
          <p:nvPr/>
        </p:nvCxnSpPr>
        <p:spPr>
          <a:xfrm>
            <a:off x="3047238" y="539496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4" name="Google Shape;684;p19"/>
          <p:cNvCxnSpPr/>
          <p:nvPr/>
        </p:nvCxnSpPr>
        <p:spPr>
          <a:xfrm>
            <a:off x="3047238" y="5852160"/>
            <a:ext cx="741426" cy="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5" name="Google Shape;685;p19"/>
          <p:cNvSpPr/>
          <p:nvPr/>
        </p:nvSpPr>
        <p:spPr>
          <a:xfrm>
            <a:off x="4337304" y="4846320"/>
            <a:ext cx="3514344" cy="1371600"/>
          </a:xfrm>
          <a:prstGeom prst="roundRect">
            <a:avLst>
              <a:gd fmla="val 5333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9"/>
          <p:cNvSpPr txBox="1"/>
          <p:nvPr/>
        </p:nvSpPr>
        <p:spPr>
          <a:xfrm>
            <a:off x="4611624" y="4937760"/>
            <a:ext cx="29657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단계 4  ·  55%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7" name="Google Shape;687;p19"/>
          <p:cNvCxnSpPr/>
          <p:nvPr/>
        </p:nvCxnSpPr>
        <p:spPr>
          <a:xfrm>
            <a:off x="4611624" y="539496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8" name="Google Shape;688;p19"/>
          <p:cNvCxnSpPr/>
          <p:nvPr/>
        </p:nvCxnSpPr>
        <p:spPr>
          <a:xfrm>
            <a:off x="4611624" y="5394960"/>
            <a:ext cx="543712" cy="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9" name="Google Shape;689;p19"/>
          <p:cNvCxnSpPr/>
          <p:nvPr/>
        </p:nvCxnSpPr>
        <p:spPr>
          <a:xfrm>
            <a:off x="5155336" y="539496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0" name="Google Shape;690;p19"/>
          <p:cNvCxnSpPr/>
          <p:nvPr/>
        </p:nvCxnSpPr>
        <p:spPr>
          <a:xfrm>
            <a:off x="5155336" y="5852160"/>
            <a:ext cx="444856" cy="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1" name="Google Shape;691;p19"/>
          <p:cNvCxnSpPr/>
          <p:nvPr/>
        </p:nvCxnSpPr>
        <p:spPr>
          <a:xfrm>
            <a:off x="5600192" y="539496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2" name="Google Shape;692;p19"/>
          <p:cNvCxnSpPr/>
          <p:nvPr/>
        </p:nvCxnSpPr>
        <p:spPr>
          <a:xfrm>
            <a:off x="5600192" y="5394960"/>
            <a:ext cx="543712" cy="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3" name="Google Shape;693;p19"/>
          <p:cNvCxnSpPr/>
          <p:nvPr/>
        </p:nvCxnSpPr>
        <p:spPr>
          <a:xfrm>
            <a:off x="6143904" y="539496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4" name="Google Shape;694;p19"/>
          <p:cNvCxnSpPr/>
          <p:nvPr/>
        </p:nvCxnSpPr>
        <p:spPr>
          <a:xfrm>
            <a:off x="6143904" y="5852160"/>
            <a:ext cx="444856" cy="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5" name="Google Shape;695;p19"/>
          <p:cNvCxnSpPr/>
          <p:nvPr/>
        </p:nvCxnSpPr>
        <p:spPr>
          <a:xfrm>
            <a:off x="6588760" y="539496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6" name="Google Shape;696;p19"/>
          <p:cNvCxnSpPr/>
          <p:nvPr/>
        </p:nvCxnSpPr>
        <p:spPr>
          <a:xfrm>
            <a:off x="6588760" y="5394960"/>
            <a:ext cx="543712" cy="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7" name="Google Shape;697;p19"/>
          <p:cNvCxnSpPr/>
          <p:nvPr/>
        </p:nvCxnSpPr>
        <p:spPr>
          <a:xfrm>
            <a:off x="7132472" y="539496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8" name="Google Shape;698;p19"/>
          <p:cNvCxnSpPr/>
          <p:nvPr/>
        </p:nvCxnSpPr>
        <p:spPr>
          <a:xfrm>
            <a:off x="7132472" y="5852160"/>
            <a:ext cx="444856" cy="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9" name="Google Shape;699;p19"/>
          <p:cNvSpPr/>
          <p:nvPr/>
        </p:nvSpPr>
        <p:spPr>
          <a:xfrm>
            <a:off x="8125968" y="4846320"/>
            <a:ext cx="3514344" cy="1371600"/>
          </a:xfrm>
          <a:prstGeom prst="roundRect">
            <a:avLst>
              <a:gd fmla="val 5333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9"/>
          <p:cNvSpPr txBox="1"/>
          <p:nvPr/>
        </p:nvSpPr>
        <p:spPr>
          <a:xfrm>
            <a:off x="8400288" y="4937760"/>
            <a:ext cx="29657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단계 8  ·  100%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1" name="Google Shape;701;p19"/>
          <p:cNvCxnSpPr/>
          <p:nvPr/>
        </p:nvCxnSpPr>
        <p:spPr>
          <a:xfrm>
            <a:off x="8400288" y="539496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2" name="Google Shape;702;p19"/>
          <p:cNvCxnSpPr/>
          <p:nvPr/>
        </p:nvCxnSpPr>
        <p:spPr>
          <a:xfrm>
            <a:off x="8400288" y="5394960"/>
            <a:ext cx="2965704" cy="0"/>
          </a:xfrm>
          <a:prstGeom prst="straightConnector1">
            <a:avLst/>
          </a:prstGeom>
          <a:noFill/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0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04 — 커널 드라이버</a:t>
            </a:r>
            <a:endParaRPr sz="1000"/>
          </a:p>
        </p:txBody>
      </p:sp>
      <p:sp>
        <p:nvSpPr>
          <p:cNvPr id="709" name="Google Shape;709;p20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장치별 명령과 공통 헤더</a:t>
            </a:r>
            <a:endParaRPr sz="3000"/>
          </a:p>
        </p:txBody>
      </p:sp>
      <p:sp>
        <p:nvSpPr>
          <p:cNvPr id="710" name="Google Shape;710;p20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드라이버와 프로그램이 같은 명령 번호를 쓰도록 헤더 하나를 공유</a:t>
            </a:r>
            <a:endParaRPr sz="1500"/>
          </a:p>
        </p:txBody>
      </p:sp>
      <p:sp>
        <p:nvSpPr>
          <p:cNvPr id="711" name="Google Shape;711;p20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커널 드라이버 구현</a:t>
            </a:r>
            <a:endParaRPr sz="1000"/>
          </a:p>
        </p:txBody>
      </p:sp>
      <p:sp>
        <p:nvSpPr>
          <p:cNvPr id="712" name="Google Shape;712;p20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20 / 26</a:t>
            </a:r>
            <a:endParaRPr sz="1000"/>
          </a:p>
        </p:txBody>
      </p:sp>
      <p:sp>
        <p:nvSpPr>
          <p:cNvPr id="713" name="Google Shape;713;p20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0"/>
          <p:cNvSpPr txBox="1"/>
          <p:nvPr/>
        </p:nvSpPr>
        <p:spPr>
          <a:xfrm>
            <a:off x="822960" y="202996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0"/>
          <p:cNvSpPr txBox="1"/>
          <p:nvPr/>
        </p:nvSpPr>
        <p:spPr>
          <a:xfrm>
            <a:off x="822960" y="2240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장치 명령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0"/>
          <p:cNvSpPr txBox="1"/>
          <p:nvPr/>
        </p:nvSpPr>
        <p:spPr>
          <a:xfrm>
            <a:off x="3657600" y="1874520"/>
            <a:ext cx="7708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read · write로 표현하기 어려운 속도 설정 · 상태 읽기 등을 번호로 정해 둔 명령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0"/>
          <p:cNvSpPr/>
          <p:nvPr/>
        </p:nvSpPr>
        <p:spPr>
          <a:xfrm>
            <a:off x="548640" y="3063240"/>
            <a:ext cx="3422904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0"/>
          <p:cNvSpPr txBox="1"/>
          <p:nvPr/>
        </p:nvSpPr>
        <p:spPr>
          <a:xfrm>
            <a:off x="640080" y="3063240"/>
            <a:ext cx="32400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프로그램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속도 설정 명령 + 값 65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0"/>
          <p:cNvSpPr txBox="1"/>
          <p:nvPr/>
        </p:nvSpPr>
        <p:spPr>
          <a:xfrm>
            <a:off x="3971544" y="3063240"/>
            <a:ext cx="411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0"/>
          <p:cNvSpPr/>
          <p:nvPr/>
        </p:nvSpPr>
        <p:spPr>
          <a:xfrm>
            <a:off x="4383024" y="3063240"/>
            <a:ext cx="3422904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0"/>
          <p:cNvSpPr txBox="1"/>
          <p:nvPr/>
        </p:nvSpPr>
        <p:spPr>
          <a:xfrm>
            <a:off x="4474464" y="3063240"/>
            <a:ext cx="32400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공통 헤더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같은 명령 번호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0"/>
          <p:cNvSpPr txBox="1"/>
          <p:nvPr/>
        </p:nvSpPr>
        <p:spPr>
          <a:xfrm>
            <a:off x="7805928" y="3063240"/>
            <a:ext cx="411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20"/>
          <p:cNvSpPr/>
          <p:nvPr/>
        </p:nvSpPr>
        <p:spPr>
          <a:xfrm>
            <a:off x="8217408" y="3063240"/>
            <a:ext cx="3422904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0"/>
          <p:cNvSpPr txBox="1"/>
          <p:nvPr/>
        </p:nvSpPr>
        <p:spPr>
          <a:xfrm>
            <a:off x="8308848" y="3063240"/>
            <a:ext cx="32400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l298n 드라이버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번호 확인 → PWM 갱신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0"/>
          <p:cNvSpPr/>
          <p:nvPr/>
        </p:nvSpPr>
        <p:spPr>
          <a:xfrm>
            <a:off x="548640" y="4297680"/>
            <a:ext cx="3514344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0"/>
          <p:cNvSpPr txBox="1"/>
          <p:nvPr/>
        </p:nvSpPr>
        <p:spPr>
          <a:xfrm>
            <a:off x="868680" y="45720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0"/>
          <p:cNvSpPr txBox="1"/>
          <p:nvPr/>
        </p:nvSpPr>
        <p:spPr>
          <a:xfrm>
            <a:off x="1691640" y="4645152"/>
            <a:ext cx="2142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EC11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0"/>
          <p:cNvSpPr txBox="1"/>
          <p:nvPr/>
        </p:nvSpPr>
        <p:spPr>
          <a:xfrm>
            <a:off x="1691640" y="4983480"/>
            <a:ext cx="2142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구분 문자 'E'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20"/>
          <p:cNvSpPr txBox="1"/>
          <p:nvPr/>
        </p:nvSpPr>
        <p:spPr>
          <a:xfrm>
            <a:off x="868680" y="5532120"/>
            <a:ext cx="28742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위치 읽기 · 위치 초기화 · 버튼 상태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0"/>
          <p:cNvSpPr/>
          <p:nvPr/>
        </p:nvSpPr>
        <p:spPr>
          <a:xfrm>
            <a:off x="4337304" y="4297680"/>
            <a:ext cx="3514344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0"/>
          <p:cNvSpPr txBox="1"/>
          <p:nvPr/>
        </p:nvSpPr>
        <p:spPr>
          <a:xfrm>
            <a:off x="4657344" y="45720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20"/>
          <p:cNvSpPr txBox="1"/>
          <p:nvPr/>
        </p:nvSpPr>
        <p:spPr>
          <a:xfrm>
            <a:off x="5480304" y="4645152"/>
            <a:ext cx="2142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모터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20"/>
          <p:cNvSpPr txBox="1"/>
          <p:nvPr/>
        </p:nvSpPr>
        <p:spPr>
          <a:xfrm>
            <a:off x="5480304" y="4983480"/>
            <a:ext cx="2142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구분 문자 'M'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0"/>
          <p:cNvSpPr txBox="1"/>
          <p:nvPr/>
        </p:nvSpPr>
        <p:spPr>
          <a:xfrm>
            <a:off x="4657344" y="5532120"/>
            <a:ext cx="28742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속도 · 방향 · 상태 · 정지 · 제동 · 활성화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0"/>
          <p:cNvSpPr/>
          <p:nvPr/>
        </p:nvSpPr>
        <p:spPr>
          <a:xfrm>
            <a:off x="8125968" y="4297680"/>
            <a:ext cx="3514344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0"/>
          <p:cNvSpPr txBox="1"/>
          <p:nvPr/>
        </p:nvSpPr>
        <p:spPr>
          <a:xfrm>
            <a:off x="8446008" y="45720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0"/>
          <p:cNvSpPr txBox="1"/>
          <p:nvPr/>
        </p:nvSpPr>
        <p:spPr>
          <a:xfrm>
            <a:off x="9268968" y="4645152"/>
            <a:ext cx="2142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LED Bar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0"/>
          <p:cNvSpPr txBox="1"/>
          <p:nvPr/>
        </p:nvSpPr>
        <p:spPr>
          <a:xfrm>
            <a:off x="9268968" y="4983480"/>
            <a:ext cx="2142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구분 문자 'L'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0"/>
          <p:cNvSpPr txBox="1"/>
          <p:nvPr/>
        </p:nvSpPr>
        <p:spPr>
          <a:xfrm>
            <a:off x="8446008" y="5532120"/>
            <a:ext cx="28742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레벨 설정 · 패턴 설정 · 각각 읽기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1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04 — 커널 드라이버</a:t>
            </a:r>
            <a:endParaRPr sz="1000"/>
          </a:p>
        </p:txBody>
      </p:sp>
      <p:sp>
        <p:nvSpPr>
          <p:cNvPr id="746" name="Google Shape;746;p21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제어 프로그램 motor_daemon</a:t>
            </a:r>
            <a:endParaRPr sz="3000"/>
          </a:p>
        </p:txBody>
      </p:sp>
      <p:sp>
        <p:nvSpPr>
          <p:cNvPr id="747" name="Google Shape;747;p21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커널 드라이버 구현</a:t>
            </a:r>
            <a:endParaRPr sz="1000"/>
          </a:p>
        </p:txBody>
      </p:sp>
      <p:sp>
        <p:nvSpPr>
          <p:cNvPr id="748" name="Google Shape;748;p21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21 / 26</a:t>
            </a:r>
            <a:endParaRPr sz="1000"/>
          </a:p>
        </p:txBody>
      </p:sp>
      <p:sp>
        <p:nvSpPr>
          <p:cNvPr id="749" name="Google Shape;749;p21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1"/>
          <p:cNvSpPr txBox="1"/>
          <p:nvPr/>
        </p:nvSpPr>
        <p:spPr>
          <a:xfrm>
            <a:off x="822960" y="202996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1"/>
          <p:cNvSpPr txBox="1"/>
          <p:nvPr/>
        </p:nvSpPr>
        <p:spPr>
          <a:xfrm>
            <a:off x="822960" y="2240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이벤트 대기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1"/>
          <p:cNvSpPr txBox="1"/>
          <p:nvPr/>
        </p:nvSpPr>
        <p:spPr>
          <a:xfrm>
            <a:off x="3657600" y="1874520"/>
            <a:ext cx="7708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읽을 데이터가 생길 때까지 프로그램을 재워 두는 방식. 기다리는 동안 CPU를 쓰지 않음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1"/>
          <p:cNvSpPr/>
          <p:nvPr/>
        </p:nvSpPr>
        <p:spPr>
          <a:xfrm>
            <a:off x="548640" y="3063240"/>
            <a:ext cx="6035040" cy="315468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1"/>
          <p:cNvSpPr/>
          <p:nvPr/>
        </p:nvSpPr>
        <p:spPr>
          <a:xfrm>
            <a:off x="960120" y="3429000"/>
            <a:ext cx="2240280" cy="731520"/>
          </a:xfrm>
          <a:prstGeom prst="rect">
            <a:avLst/>
          </a:prstGeom>
          <a:solidFill>
            <a:srgbClr val="F0EEE7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1"/>
          <p:cNvSpPr txBox="1"/>
          <p:nvPr/>
        </p:nvSpPr>
        <p:spPr>
          <a:xfrm>
            <a:off x="960120" y="342900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이벤트 대기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1"/>
          <p:cNvSpPr/>
          <p:nvPr/>
        </p:nvSpPr>
        <p:spPr>
          <a:xfrm>
            <a:off x="3931920" y="3429000"/>
            <a:ext cx="224028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1"/>
          <p:cNvSpPr txBox="1"/>
          <p:nvPr/>
        </p:nvSpPr>
        <p:spPr>
          <a:xfrm>
            <a:off x="3931920" y="342900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이벤트 모두 읽기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1"/>
          <p:cNvSpPr/>
          <p:nvPr/>
        </p:nvSpPr>
        <p:spPr>
          <a:xfrm>
            <a:off x="3931920" y="4983480"/>
            <a:ext cx="224028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1"/>
          <p:cNvSpPr txBox="1"/>
          <p:nvPr/>
        </p:nvSpPr>
        <p:spPr>
          <a:xfrm>
            <a:off x="3931920" y="498348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단계 계산 0 ~ 8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1"/>
          <p:cNvSpPr/>
          <p:nvPr/>
        </p:nvSpPr>
        <p:spPr>
          <a:xfrm>
            <a:off x="960120" y="4983480"/>
            <a:ext cx="224028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1"/>
          <p:cNvSpPr txBox="1"/>
          <p:nvPr/>
        </p:nvSpPr>
        <p:spPr>
          <a:xfrm>
            <a:off x="960120" y="498348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모터 · LED 설정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2" name="Google Shape;762;p21"/>
          <p:cNvCxnSpPr/>
          <p:nvPr/>
        </p:nvCxnSpPr>
        <p:spPr>
          <a:xfrm>
            <a:off x="3291840" y="3794760"/>
            <a:ext cx="548640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3" name="Google Shape;763;p21"/>
          <p:cNvCxnSpPr/>
          <p:nvPr/>
        </p:nvCxnSpPr>
        <p:spPr>
          <a:xfrm>
            <a:off x="5052060" y="4233672"/>
            <a:ext cx="0" cy="676656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4" name="Google Shape;764;p21"/>
          <p:cNvCxnSpPr/>
          <p:nvPr/>
        </p:nvCxnSpPr>
        <p:spPr>
          <a:xfrm>
            <a:off x="3291840" y="5349240"/>
            <a:ext cx="548640" cy="0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765" name="Google Shape;765;p21"/>
          <p:cNvCxnSpPr/>
          <p:nvPr/>
        </p:nvCxnSpPr>
        <p:spPr>
          <a:xfrm>
            <a:off x="2080260" y="4233672"/>
            <a:ext cx="0" cy="676656"/>
          </a:xfrm>
          <a:prstGeom prst="straightConnector1">
            <a:avLst/>
          </a:prstGeom>
          <a:noFill/>
          <a:ln cap="flat" cmpd="sng" w="19050">
            <a:solidFill>
              <a:srgbClr val="70706C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766" name="Google Shape;766;p21"/>
          <p:cNvSpPr/>
          <p:nvPr/>
        </p:nvSpPr>
        <p:spPr>
          <a:xfrm>
            <a:off x="6949440" y="3063240"/>
            <a:ext cx="4690872" cy="1440180"/>
          </a:xfrm>
          <a:prstGeom prst="roundRect">
            <a:avLst>
              <a:gd fmla="val 5079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1"/>
          <p:cNvSpPr txBox="1"/>
          <p:nvPr/>
        </p:nvSpPr>
        <p:spPr>
          <a:xfrm>
            <a:off x="7269480" y="3337560"/>
            <a:ext cx="4050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쌓인 이벤트는 한 번에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1"/>
          <p:cNvSpPr txBox="1"/>
          <p:nvPr/>
        </p:nvSpPr>
        <p:spPr>
          <a:xfrm>
            <a:off x="7269480" y="3749040"/>
            <a:ext cx="405079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깨어날 때마다 큐가 빌 때까지 읽어, 노브를 빨리 돌려도 밀리지 않음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1"/>
          <p:cNvSpPr/>
          <p:nvPr/>
        </p:nvSpPr>
        <p:spPr>
          <a:xfrm>
            <a:off x="6949440" y="4777740"/>
            <a:ext cx="4690872" cy="1440180"/>
          </a:xfrm>
          <a:prstGeom prst="roundRect">
            <a:avLst>
              <a:gd fmla="val 5079" name="adj"/>
            </a:avLst>
          </a:prstGeom>
          <a:solidFill>
            <a:srgbClr val="F0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1"/>
          <p:cNvSpPr txBox="1"/>
          <p:nvPr/>
        </p:nvSpPr>
        <p:spPr>
          <a:xfrm>
            <a:off x="7269480" y="5052060"/>
            <a:ext cx="4050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출력은 마지막에 한 번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1"/>
          <p:cNvSpPr txBox="1"/>
          <p:nvPr/>
        </p:nvSpPr>
        <p:spPr>
          <a:xfrm>
            <a:off x="7269480" y="5463540"/>
            <a:ext cx="405079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모터와 LED는 계산이 끝난 뒤 한 번만 설정해 불필요한 갱신을 줄임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22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05 — 정리</a:t>
            </a:r>
            <a:endParaRPr sz="1000"/>
          </a:p>
        </p:txBody>
      </p:sp>
      <p:sp>
        <p:nvSpPr>
          <p:cNvPr id="778" name="Google Shape;778;p22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시연 영상</a:t>
            </a:r>
            <a:endParaRPr sz="3000"/>
          </a:p>
        </p:txBody>
      </p:sp>
      <p:sp>
        <p:nvSpPr>
          <p:cNvPr id="779" name="Google Shape;779;p22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정리</a:t>
            </a:r>
            <a:endParaRPr sz="1000"/>
          </a:p>
        </p:txBody>
      </p:sp>
      <p:sp>
        <p:nvSpPr>
          <p:cNvPr id="780" name="Google Shape;780;p22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22 / 26</a:t>
            </a:r>
            <a:endParaRPr sz="1000"/>
          </a:p>
        </p:txBody>
      </p:sp>
      <p:pic>
        <p:nvPicPr>
          <p:cNvPr id="781" name="Google Shape;7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874520"/>
            <a:ext cx="7721600" cy="4343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2" name="Google Shape;782;p22"/>
          <p:cNvCxnSpPr/>
          <p:nvPr/>
        </p:nvCxnSpPr>
        <p:spPr>
          <a:xfrm>
            <a:off x="8636000" y="1874520"/>
            <a:ext cx="3004312" cy="0"/>
          </a:xfrm>
          <a:prstGeom prst="straightConnector1">
            <a:avLst/>
          </a:prstGeom>
          <a:noFill/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3" name="Google Shape;783;p22"/>
          <p:cNvSpPr txBox="1"/>
          <p:nvPr/>
        </p:nvSpPr>
        <p:spPr>
          <a:xfrm>
            <a:off x="8636000" y="2011680"/>
            <a:ext cx="3004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노브 회전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2"/>
          <p:cNvSpPr txBox="1"/>
          <p:nvPr/>
        </p:nvSpPr>
        <p:spPr>
          <a:xfrm>
            <a:off x="8636000" y="2377440"/>
            <a:ext cx="3004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속도 단계 Up / Down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5" name="Google Shape;785;p22"/>
          <p:cNvCxnSpPr/>
          <p:nvPr/>
        </p:nvCxnSpPr>
        <p:spPr>
          <a:xfrm>
            <a:off x="8636000" y="2971800"/>
            <a:ext cx="3004312" cy="0"/>
          </a:xfrm>
          <a:prstGeom prst="straightConnector1">
            <a:avLst/>
          </a:prstGeom>
          <a:noFill/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6" name="Google Shape;786;p22"/>
          <p:cNvSpPr txBox="1"/>
          <p:nvPr/>
        </p:nvSpPr>
        <p:spPr>
          <a:xfrm>
            <a:off x="8636000" y="3108960"/>
            <a:ext cx="3004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LED Bar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2"/>
          <p:cNvSpPr txBox="1"/>
          <p:nvPr/>
        </p:nvSpPr>
        <p:spPr>
          <a:xfrm>
            <a:off x="8636000" y="3474720"/>
            <a:ext cx="3004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현재 단계를 칸 수로 표시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8" name="Google Shape;788;p22"/>
          <p:cNvCxnSpPr/>
          <p:nvPr/>
        </p:nvCxnSpPr>
        <p:spPr>
          <a:xfrm>
            <a:off x="8636000" y="4069080"/>
            <a:ext cx="3004312" cy="0"/>
          </a:xfrm>
          <a:prstGeom prst="straightConnector1">
            <a:avLst/>
          </a:prstGeom>
          <a:noFill/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9" name="Google Shape;789;p22"/>
          <p:cNvSpPr txBox="1"/>
          <p:nvPr/>
        </p:nvSpPr>
        <p:spPr>
          <a:xfrm>
            <a:off x="8636000" y="4206240"/>
            <a:ext cx="3004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DC 모터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2"/>
          <p:cNvSpPr txBox="1"/>
          <p:nvPr/>
        </p:nvSpPr>
        <p:spPr>
          <a:xfrm>
            <a:off x="8636000" y="4572000"/>
            <a:ext cx="3004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단계에 맞춰 회전 속도 변화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3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05 — 정리</a:t>
            </a:r>
            <a:endParaRPr sz="1000"/>
          </a:p>
        </p:txBody>
      </p:sp>
      <p:sp>
        <p:nvSpPr>
          <p:cNvPr id="797" name="Google Shape;797;p23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핵심 함수 정리</a:t>
            </a:r>
            <a:endParaRPr sz="3000"/>
          </a:p>
        </p:txBody>
      </p:sp>
      <p:sp>
        <p:nvSpPr>
          <p:cNvPr id="798" name="Google Shape;798;p23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드라이버와 프로그램이 데이터를 주고받는 다섯 가지</a:t>
            </a:r>
            <a:endParaRPr sz="1500"/>
          </a:p>
        </p:txBody>
      </p:sp>
      <p:sp>
        <p:nvSpPr>
          <p:cNvPr id="799" name="Google Shape;799;p23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정리</a:t>
            </a:r>
            <a:endParaRPr sz="1000"/>
          </a:p>
        </p:txBody>
      </p:sp>
      <p:sp>
        <p:nvSpPr>
          <p:cNvPr id="800" name="Google Shape;800;p23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23 / 26</a:t>
            </a:r>
            <a:endParaRPr sz="1000"/>
          </a:p>
        </p:txBody>
      </p:sp>
      <p:graphicFrame>
        <p:nvGraphicFramePr>
          <p:cNvPr id="801" name="Google Shape;801;p23"/>
          <p:cNvGraphicFramePr/>
          <p:nvPr/>
        </p:nvGraphicFramePr>
        <p:xfrm>
          <a:off x="54864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{4B330C53-4501-47B6-A45A-62F26BFDEAF5}</a:tableStyleId>
              </a:tblPr>
              <a:tblGrid>
                <a:gridCol w="2560325"/>
                <a:gridCol w="2743200"/>
                <a:gridCol w="5788150"/>
              </a:tblGrid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6C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70706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함수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6C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70706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경로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6C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70706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역할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EE7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file_operations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드라이버 (구조체)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read · write 호출을 드라이버 함수에 연결하는 표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read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프로그램 → 드라이버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장치에서 데이터 가져오기 (엔코더 이벤트)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write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프로그램 → 드라이버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장치에 데이터 보내기 (모터 명령)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copy_to_user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read 안에서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드라이버 데이터 → 프로그램 메모리로 복사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copy_from_user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write 안에서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프로그램 데이터 → 드라이버 메모리로 복사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24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05 — 정리</a:t>
            </a:r>
            <a:endParaRPr sz="1000"/>
          </a:p>
        </p:txBody>
      </p:sp>
      <p:sp>
        <p:nvSpPr>
          <p:cNvPr id="808" name="Google Shape;808;p24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두 방법 비교</a:t>
            </a:r>
            <a:endParaRPr sz="3000"/>
          </a:p>
        </p:txBody>
      </p:sp>
      <p:sp>
        <p:nvSpPr>
          <p:cNvPr id="809" name="Google Shape;809;p24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/>
          </a:p>
        </p:txBody>
      </p:sp>
      <p:sp>
        <p:nvSpPr>
          <p:cNvPr id="810" name="Google Shape;810;p24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정리</a:t>
            </a:r>
            <a:endParaRPr sz="1000"/>
          </a:p>
        </p:txBody>
      </p:sp>
      <p:sp>
        <p:nvSpPr>
          <p:cNvPr id="811" name="Google Shape;811;p24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24 / 26</a:t>
            </a:r>
            <a:endParaRPr sz="1000"/>
          </a:p>
        </p:txBody>
      </p:sp>
      <p:graphicFrame>
        <p:nvGraphicFramePr>
          <p:cNvPr id="812" name="Google Shape;812;p24"/>
          <p:cNvGraphicFramePr/>
          <p:nvPr/>
        </p:nvGraphicFramePr>
        <p:xfrm>
          <a:off x="54864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{4B330C53-4501-47B6-A45A-62F26BFDEAF5}</a:tableStyleId>
              </a:tblPr>
              <a:tblGrid>
                <a:gridCol w="2560325"/>
                <a:gridCol w="4265675"/>
                <a:gridCol w="4265675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6C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70706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유저 공간 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6C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70706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커널 드라이버 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EE7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작성한 코드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전체 프로그램 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커널 모듈 3개 + 프로그램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하드웨어 접근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libgpiod · sysfs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커널 GPIO · IRQ · PWM API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엔코더 해석 위치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프로그램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인터럽트 핸들러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프로그램이 쓰는 것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라이브러리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/dev 장치 파일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Error 발생 시 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프로그램만 종료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커널 전체에 영향 가능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다른 프로그램에서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다시 구현 필요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같은 장치 파일 재사용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0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5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05 — 정리</a:t>
            </a:r>
            <a:endParaRPr sz="1000"/>
          </a:p>
        </p:txBody>
      </p:sp>
      <p:sp>
        <p:nvSpPr>
          <p:cNvPr id="819" name="Google Shape;819;p25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배운 점</a:t>
            </a:r>
            <a:endParaRPr sz="3000"/>
          </a:p>
        </p:txBody>
      </p:sp>
      <p:sp>
        <p:nvSpPr>
          <p:cNvPr id="820" name="Google Shape;820;p25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/>
          </a:p>
        </p:txBody>
      </p:sp>
      <p:sp>
        <p:nvSpPr>
          <p:cNvPr id="821" name="Google Shape;821;p25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정리</a:t>
            </a:r>
            <a:endParaRPr sz="1000"/>
          </a:p>
        </p:txBody>
      </p:sp>
      <p:sp>
        <p:nvSpPr>
          <p:cNvPr id="822" name="Google Shape;822;p25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25 / 26</a:t>
            </a:r>
            <a:endParaRPr sz="1000"/>
          </a:p>
        </p:txBody>
      </p:sp>
      <p:cxnSp>
        <p:nvCxnSpPr>
          <p:cNvPr id="823" name="Google Shape;823;p25"/>
          <p:cNvCxnSpPr/>
          <p:nvPr/>
        </p:nvCxnSpPr>
        <p:spPr>
          <a:xfrm>
            <a:off x="548640" y="1874520"/>
            <a:ext cx="11091672" cy="0"/>
          </a:xfrm>
          <a:prstGeom prst="straightConnector1">
            <a:avLst/>
          </a:prstGeom>
          <a:noFill/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4" name="Google Shape;824;p25"/>
          <p:cNvSpPr txBox="1"/>
          <p:nvPr/>
        </p:nvSpPr>
        <p:spPr>
          <a:xfrm>
            <a:off x="548640" y="21031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장치는 파일로 다룸</a:t>
            </a:r>
            <a:endParaRPr/>
          </a:p>
        </p:txBody>
      </p:sp>
      <p:sp>
        <p:nvSpPr>
          <p:cNvPr id="825" name="Google Shape;825;p25"/>
          <p:cNvSpPr txBox="1"/>
          <p:nvPr/>
        </p:nvSpPr>
        <p:spPr>
          <a:xfrm>
            <a:off x="4663440" y="2103120"/>
            <a:ext cx="69768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/dev · /sys 아래 파일로 장치를 열고 읽고 씀</a:t>
            </a:r>
            <a:endParaRPr/>
          </a:p>
          <a:p>
            <a:pPr indent="-228600" lvl="0" marL="228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일반 프로그램만으로도 GPIO · PWM 제어 가능</a:t>
            </a:r>
            <a:endParaRPr/>
          </a:p>
        </p:txBody>
      </p:sp>
      <p:cxnSp>
        <p:nvCxnSpPr>
          <p:cNvPr id="826" name="Google Shape;826;p25"/>
          <p:cNvCxnSpPr/>
          <p:nvPr/>
        </p:nvCxnSpPr>
        <p:spPr>
          <a:xfrm>
            <a:off x="548640" y="3246120"/>
            <a:ext cx="11091672" cy="0"/>
          </a:xfrm>
          <a:prstGeom prst="straightConnector1">
            <a:avLst/>
          </a:prstGeom>
          <a:noFill/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7" name="Google Shape;827;p25"/>
          <p:cNvSpPr txBox="1"/>
          <p:nvPr/>
        </p:nvSpPr>
        <p:spPr>
          <a:xfrm>
            <a:off x="548640" y="34747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드라이버는 파일 뒤의 함수</a:t>
            </a:r>
            <a:endParaRPr/>
          </a:p>
        </p:txBody>
      </p:sp>
      <p:sp>
        <p:nvSpPr>
          <p:cNvPr id="828" name="Google Shape;828;p25"/>
          <p:cNvSpPr txBox="1"/>
          <p:nvPr/>
        </p:nvSpPr>
        <p:spPr>
          <a:xfrm>
            <a:off x="4663440" y="3474720"/>
            <a:ext cx="69768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file_operations로 read · write를 드라이버 함수에 연결</a:t>
            </a:r>
            <a:endParaRPr/>
          </a:p>
          <a:p>
            <a:pPr indent="-228600" lvl="0" marL="228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커널 ↔ 프로그램 데이터는 copy_to_user · copy_from_user로 전달</a:t>
            </a:r>
            <a:endParaRPr/>
          </a:p>
        </p:txBody>
      </p:sp>
      <p:cxnSp>
        <p:nvCxnSpPr>
          <p:cNvPr id="829" name="Google Shape;829;p25"/>
          <p:cNvCxnSpPr/>
          <p:nvPr/>
        </p:nvCxnSpPr>
        <p:spPr>
          <a:xfrm>
            <a:off x="548640" y="4617720"/>
            <a:ext cx="11091672" cy="0"/>
          </a:xfrm>
          <a:prstGeom prst="straightConnector1">
            <a:avLst/>
          </a:prstGeom>
          <a:noFill/>
          <a:ln cap="flat" cmpd="sng" w="9525">
            <a:solidFill>
              <a:srgbClr val="E3E0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0" name="Google Shape;830;p25"/>
          <p:cNvSpPr txBox="1"/>
          <p:nvPr/>
        </p:nvSpPr>
        <p:spPr>
          <a:xfrm>
            <a:off x="548640" y="48463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같은 로직, 다른 위치</a:t>
            </a:r>
            <a:endParaRPr/>
          </a:p>
        </p:txBody>
      </p:sp>
      <p:sp>
        <p:nvSpPr>
          <p:cNvPr id="831" name="Google Shape;831;p25"/>
          <p:cNvSpPr txBox="1"/>
          <p:nvPr/>
        </p:nvSpPr>
        <p:spPr>
          <a:xfrm>
            <a:off x="4663440" y="4846320"/>
            <a:ext cx="69768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엔코더 해석 로직은 두 구현 모두 동일</a:t>
            </a:r>
            <a:endParaRPr/>
          </a:p>
          <a:p>
            <a:pPr indent="-228600" lvl="0" marL="228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유저 공간은 구현이 쉽고, 커널은 응답이 빠르고 재사용이 쉬움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26"/>
          <p:cNvSpPr txBox="1"/>
          <p:nvPr>
            <p:ph idx="1" type="body"/>
          </p:nvPr>
        </p:nvSpPr>
        <p:spPr>
          <a:xfrm>
            <a:off x="548640" y="411480"/>
            <a:ext cx="11091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05 — 정리</a:t>
            </a:r>
            <a:endParaRPr sz="1000"/>
          </a:p>
        </p:txBody>
      </p:sp>
      <p:sp>
        <p:nvSpPr>
          <p:cNvPr id="838" name="Google Shape;838;p26"/>
          <p:cNvSpPr txBox="1"/>
          <p:nvPr>
            <p:ph type="title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감사합니다</a:t>
            </a:r>
            <a:endParaRPr sz="3000"/>
          </a:p>
        </p:txBody>
      </p:sp>
      <p:sp>
        <p:nvSpPr>
          <p:cNvPr id="839" name="Google Shape;839;p26"/>
          <p:cNvSpPr txBox="1"/>
          <p:nvPr>
            <p:ph idx="2" type="body"/>
          </p:nvPr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500"/>
              <a:buNone/>
            </a:pPr>
            <a:r>
              <a:rPr lang="en-US" sz="15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질문 받겠습니다</a:t>
            </a:r>
            <a:endParaRPr sz="1500"/>
          </a:p>
        </p:txBody>
      </p:sp>
      <p:sp>
        <p:nvSpPr>
          <p:cNvPr id="840" name="Google Shape;840;p26"/>
          <p:cNvSpPr txBox="1"/>
          <p:nvPr>
            <p:ph idx="3" type="body"/>
          </p:nvPr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정리</a:t>
            </a:r>
            <a:endParaRPr sz="1000"/>
          </a:p>
        </p:txBody>
      </p:sp>
      <p:sp>
        <p:nvSpPr>
          <p:cNvPr id="841" name="Google Shape;841;p26"/>
          <p:cNvSpPr txBox="1"/>
          <p:nvPr>
            <p:ph idx="4" type="body"/>
          </p:nvPr>
        </p:nvSpPr>
        <p:spPr>
          <a:xfrm>
            <a:off x="9811512" y="6419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0706C"/>
              </a:buClr>
              <a:buSzPts val="1000"/>
              <a:buNone/>
            </a:pPr>
            <a:r>
              <a:rPr lang="en-US" sz="1000">
                <a:solidFill>
                  <a:srgbClr val="70706C"/>
                </a:solidFill>
                <a:latin typeface="Arial"/>
                <a:ea typeface="Arial"/>
                <a:cs typeface="Arial"/>
                <a:sym typeface="Arial"/>
              </a:rPr>
              <a:t>26 / 26</a:t>
            </a:r>
            <a:endParaRPr sz="1000"/>
          </a:p>
        </p:txBody>
      </p:sp>
      <p:sp>
        <p:nvSpPr>
          <p:cNvPr descr="질문받습니다! 펭귄 강연장" id="842" name="Google Shape;842;p2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3" name="Google Shape;84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937"/>
            <a:ext cx="12192000" cy="6850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DD Pretendard">
  <a:themeElements>
    <a:clrScheme name="LDD Pretendard">
      <a:dk1>
        <a:srgbClr val="141413"/>
      </a:dk1>
      <a:lt1>
        <a:srgbClr val="FFFFFF"/>
      </a:lt1>
      <a:dk2>
        <a:srgbClr val="70706C"/>
      </a:dk2>
      <a:lt2>
        <a:srgbClr val="FAF9F5"/>
      </a:lt2>
      <a:accent1>
        <a:srgbClr val="141413"/>
      </a:accent1>
      <a:accent2>
        <a:srgbClr val="70706C"/>
      </a:accent2>
      <a:accent3>
        <a:srgbClr val="A8A69E"/>
      </a:accent3>
      <a:accent4>
        <a:srgbClr val="D9D6CC"/>
      </a:accent4>
      <a:accent5>
        <a:srgbClr val="3D3D3A"/>
      </a:accent5>
      <a:accent6>
        <a:srgbClr val="B8B5AB"/>
      </a:accent6>
      <a:hlink>
        <a:srgbClr val="141413"/>
      </a:hlink>
      <a:folHlink>
        <a:srgbClr val="7070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2026-10-12T06:18:14Z</dcterms:created>
  <dc:creator>AIDL Embedded Driver Team</dc:creator>
</cp:coreProperties>
</file>